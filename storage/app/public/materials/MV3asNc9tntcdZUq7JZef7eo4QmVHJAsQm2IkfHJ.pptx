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mbria" panose="02040503050406030204" pitchFamily="18" charset="0"/>
      <p:regular r:id="rId13"/>
      <p:bold r:id="rId14"/>
      <p:italic r:id="rId15"/>
      <p:boldItalic r:id="rId16"/>
    </p:embeddedFont>
    <p:embeddedFont>
      <p:font typeface="Cambria Bold" panose="020408030504060302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38215"/>
            <a:ext cx="18288000" cy="3761566"/>
            <a:chOff x="0" y="0"/>
            <a:chExt cx="4816593" cy="99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990700"/>
            </a:xfrm>
            <a:custGeom>
              <a:avLst/>
              <a:gdLst/>
              <a:ahLst/>
              <a:cxnLst/>
              <a:rect l="l" t="t" r="r" b="b"/>
              <a:pathLst>
                <a:path w="4816592" h="990700">
                  <a:moveTo>
                    <a:pt x="0" y="0"/>
                  </a:moveTo>
                  <a:lnTo>
                    <a:pt x="4816592" y="0"/>
                  </a:lnTo>
                  <a:lnTo>
                    <a:pt x="4816592" y="990700"/>
                  </a:lnTo>
                  <a:lnTo>
                    <a:pt x="0" y="990700"/>
                  </a:ln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04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189785" y="5561598"/>
            <a:ext cx="4952166" cy="4114800"/>
          </a:xfrm>
          <a:custGeom>
            <a:avLst/>
            <a:gdLst/>
            <a:ahLst/>
            <a:cxnLst/>
            <a:rect l="l" t="t" r="r" b="b"/>
            <a:pathLst>
              <a:path w="4952166" h="4114800">
                <a:moveTo>
                  <a:pt x="0" y="0"/>
                </a:moveTo>
                <a:lnTo>
                  <a:pt x="4952166" y="0"/>
                </a:lnTo>
                <a:lnTo>
                  <a:pt x="49521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585725" y="5561598"/>
            <a:ext cx="5588000" cy="4114800"/>
          </a:xfrm>
          <a:custGeom>
            <a:avLst/>
            <a:gdLst/>
            <a:ahLst/>
            <a:cxnLst/>
            <a:rect l="l" t="t" r="r" b="b"/>
            <a:pathLst>
              <a:path w="5588000" h="4114800">
                <a:moveTo>
                  <a:pt x="5588000" y="0"/>
                </a:moveTo>
                <a:lnTo>
                  <a:pt x="0" y="0"/>
                </a:lnTo>
                <a:lnTo>
                  <a:pt x="0" y="4114800"/>
                </a:lnTo>
                <a:lnTo>
                  <a:pt x="5588000" y="4114800"/>
                </a:lnTo>
                <a:lnTo>
                  <a:pt x="55880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011585" y="6689095"/>
            <a:ext cx="6264830" cy="3098243"/>
          </a:xfrm>
          <a:custGeom>
            <a:avLst/>
            <a:gdLst/>
            <a:ahLst/>
            <a:cxnLst/>
            <a:rect l="l" t="t" r="r" b="b"/>
            <a:pathLst>
              <a:path w="6264830" h="3098243">
                <a:moveTo>
                  <a:pt x="0" y="0"/>
                </a:moveTo>
                <a:lnTo>
                  <a:pt x="6264830" y="0"/>
                </a:lnTo>
                <a:lnTo>
                  <a:pt x="6264830" y="3098243"/>
                </a:lnTo>
                <a:lnTo>
                  <a:pt x="0" y="3098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1827077"/>
            <a:ext cx="18288000" cy="207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90"/>
              </a:lnSpc>
              <a:spcBef>
                <a:spcPct val="0"/>
              </a:spcBef>
            </a:pPr>
            <a:r>
              <a:rPr lang="en-US" sz="12064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ACTIVITY PLAN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4631" y="3641758"/>
            <a:ext cx="15042696" cy="772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8"/>
              </a:lnSpc>
            </a:pPr>
            <a:r>
              <a:rPr lang="en-US" sz="447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Pengembangan Aplikasi MAP-IN Talent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D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3603" y="111125"/>
            <a:ext cx="10020696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LATAR BELAKANG &amp; TUJUAN APLIKASI</a:t>
            </a:r>
          </a:p>
        </p:txBody>
      </p:sp>
      <p:sp>
        <p:nvSpPr>
          <p:cNvPr id="6" name="Freeform 6"/>
          <p:cNvSpPr/>
          <p:nvPr/>
        </p:nvSpPr>
        <p:spPr>
          <a:xfrm>
            <a:off x="610060" y="2425756"/>
            <a:ext cx="7254181" cy="7267395"/>
          </a:xfrm>
          <a:custGeom>
            <a:avLst/>
            <a:gdLst/>
            <a:ahLst/>
            <a:cxnLst/>
            <a:rect l="l" t="t" r="r" b="b"/>
            <a:pathLst>
              <a:path w="7254181" h="7267395">
                <a:moveTo>
                  <a:pt x="0" y="0"/>
                </a:moveTo>
                <a:lnTo>
                  <a:pt x="7254182" y="0"/>
                </a:lnTo>
                <a:lnTo>
                  <a:pt x="7254182" y="7267394"/>
                </a:lnTo>
                <a:lnTo>
                  <a:pt x="0" y="7267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88023" y="2496200"/>
            <a:ext cx="6698257" cy="126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9"/>
              </a:lnSpc>
              <a:spcBef>
                <a:spcPct val="0"/>
              </a:spcBef>
            </a:pPr>
            <a:r>
              <a:rPr lang="en-US" sz="3578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Mengapa aplikasi talent management ini dibangun?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659814" y="1938252"/>
            <a:ext cx="5021550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Latar belakang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59814" y="5124682"/>
            <a:ext cx="5510087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Tujuan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75289" y="5839057"/>
            <a:ext cx="9258267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Membangun aplikasi website yang menyatukan profil individu, riwayat karir, talent snapshot, rencana karir, suksesi, gap kompetensi, IDP, review tahunan, dan pelatihan/sertifikasi dalam 9 tab.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75289" y="2671445"/>
            <a:ext cx="9258267" cy="247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 talenta karyawan seperti profil, riwayat karir, penilaian potensi, suksesi, dan rencana pengembangan perlu dikelola secara terpusat dan mengacu pada standar yang sama.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Aplikasi website ini menjadi wadah tunggal bagi HR dan manajemen untuk memantau dan mengembangkan talenta.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259764" y="1532111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Freeform 13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659814" y="7911062"/>
            <a:ext cx="7694654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Standar acuan yang dianalisis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33968" y="8552413"/>
            <a:ext cx="497045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Katalog Kompetensi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Format POTASS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89550" y="8552413"/>
            <a:ext cx="376975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16 HAV Box</a:t>
            </a:r>
          </a:p>
          <a:p>
            <a:pPr marL="647697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IDP 70-20-10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14927"/>
            <a:ext cx="18288000" cy="872073"/>
            <a:chOff x="0" y="0"/>
            <a:chExt cx="4816593" cy="2296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29682"/>
            </a:xfrm>
            <a:custGeom>
              <a:avLst/>
              <a:gdLst/>
              <a:ahLst/>
              <a:cxnLst/>
              <a:rect l="l" t="t" r="r" b="b"/>
              <a:pathLst>
                <a:path w="4816592" h="229682">
                  <a:moveTo>
                    <a:pt x="0" y="0"/>
                  </a:moveTo>
                  <a:lnTo>
                    <a:pt x="4816592" y="0"/>
                  </a:lnTo>
                  <a:lnTo>
                    <a:pt x="4816592" y="229682"/>
                  </a:lnTo>
                  <a:lnTo>
                    <a:pt x="0" y="229682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286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89493"/>
            <a:ext cx="18288000" cy="10252710"/>
          </a:xfrm>
          <a:custGeom>
            <a:avLst/>
            <a:gdLst/>
            <a:ahLst/>
            <a:cxnLst/>
            <a:rect l="l" t="t" r="r" b="b"/>
            <a:pathLst>
              <a:path w="18288000" h="10252710">
                <a:moveTo>
                  <a:pt x="0" y="0"/>
                </a:moveTo>
                <a:lnTo>
                  <a:pt x="18288000" y="0"/>
                </a:lnTo>
                <a:lnTo>
                  <a:pt x="18288000" y="10252710"/>
                </a:lnTo>
                <a:lnTo>
                  <a:pt x="0" y="10252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D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8726278" y="1771650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62538" y="2920010"/>
            <a:ext cx="7287894" cy="5429481"/>
          </a:xfrm>
          <a:custGeom>
            <a:avLst/>
            <a:gdLst/>
            <a:ahLst/>
            <a:cxnLst/>
            <a:rect l="l" t="t" r="r" b="b"/>
            <a:pathLst>
              <a:path w="7287894" h="5429481">
                <a:moveTo>
                  <a:pt x="0" y="0"/>
                </a:moveTo>
                <a:lnTo>
                  <a:pt x="7287895" y="0"/>
                </a:lnTo>
                <a:lnTo>
                  <a:pt x="7287895" y="5429481"/>
                </a:lnTo>
                <a:lnTo>
                  <a:pt x="0" y="5429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723357" y="2757326"/>
            <a:ext cx="3070191" cy="2993436"/>
          </a:xfrm>
          <a:custGeom>
            <a:avLst/>
            <a:gdLst/>
            <a:ahLst/>
            <a:cxnLst/>
            <a:rect l="l" t="t" r="r" b="b"/>
            <a:pathLst>
              <a:path w="3070191" h="2993436">
                <a:moveTo>
                  <a:pt x="0" y="0"/>
                </a:moveTo>
                <a:lnTo>
                  <a:pt x="3070191" y="0"/>
                </a:lnTo>
                <a:lnTo>
                  <a:pt x="3070191" y="2993436"/>
                </a:lnTo>
                <a:lnTo>
                  <a:pt x="0" y="299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964403" y="6729986"/>
            <a:ext cx="2877865" cy="3094478"/>
          </a:xfrm>
          <a:custGeom>
            <a:avLst/>
            <a:gdLst/>
            <a:ahLst/>
            <a:cxnLst/>
            <a:rect l="l" t="t" r="r" b="b"/>
            <a:pathLst>
              <a:path w="2877865" h="3094478">
                <a:moveTo>
                  <a:pt x="0" y="0"/>
                </a:moveTo>
                <a:lnTo>
                  <a:pt x="2877865" y="0"/>
                </a:lnTo>
                <a:lnTo>
                  <a:pt x="2877865" y="3094478"/>
                </a:lnTo>
                <a:lnTo>
                  <a:pt x="0" y="30944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13603" y="190500"/>
            <a:ext cx="727267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1. PENGUMPULAN 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538" y="8512175"/>
            <a:ext cx="7033549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Minimal 3x sesi wawancara serta dokumen standar dikumpulkan dan dianalisis.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62015" y="2223926"/>
            <a:ext cx="625386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Wawancara dengan Stakeholder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46957" y="6022557"/>
            <a:ext cx="551008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Kelengkapan Dokumen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62352" y="6829425"/>
            <a:ext cx="376975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Katalog Kompetensi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Format POTASS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104357" y="7813675"/>
            <a:ext cx="376975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16 HAV Box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IDP 70-20-10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84272" y="1133475"/>
            <a:ext cx="3423474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W1 - Okt W2)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13603" y="2177060"/>
            <a:ext cx="8415964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1. Wawancara dan Pengumpulan Dokumen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30668" y="3900326"/>
            <a:ext cx="1316558" cy="102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104357" y="8728075"/>
            <a:ext cx="3769750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Dokumen Lainnya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D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5789858" y="1771650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15595" y="3277465"/>
            <a:ext cx="3828435" cy="3828435"/>
          </a:xfrm>
          <a:custGeom>
            <a:avLst/>
            <a:gdLst/>
            <a:ahLst/>
            <a:cxnLst/>
            <a:rect l="l" t="t" r="r" b="b"/>
            <a:pathLst>
              <a:path w="3828435" h="3828435">
                <a:moveTo>
                  <a:pt x="0" y="0"/>
                </a:moveTo>
                <a:lnTo>
                  <a:pt x="3828435" y="0"/>
                </a:lnTo>
                <a:lnTo>
                  <a:pt x="3828435" y="3828435"/>
                </a:lnTo>
                <a:lnTo>
                  <a:pt x="0" y="38284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90227" y="3328220"/>
            <a:ext cx="3412064" cy="3770236"/>
          </a:xfrm>
          <a:custGeom>
            <a:avLst/>
            <a:gdLst/>
            <a:ahLst/>
            <a:cxnLst/>
            <a:rect l="l" t="t" r="r" b="b"/>
            <a:pathLst>
              <a:path w="3412064" h="3770236">
                <a:moveTo>
                  <a:pt x="0" y="0"/>
                </a:moveTo>
                <a:lnTo>
                  <a:pt x="3412064" y="0"/>
                </a:lnTo>
                <a:lnTo>
                  <a:pt x="3412064" y="3770236"/>
                </a:lnTo>
                <a:lnTo>
                  <a:pt x="0" y="37702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11353595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3199861" y="3178175"/>
            <a:ext cx="4623371" cy="4114800"/>
          </a:xfrm>
          <a:custGeom>
            <a:avLst/>
            <a:gdLst/>
            <a:ahLst/>
            <a:cxnLst/>
            <a:rect l="l" t="t" r="r" b="b"/>
            <a:pathLst>
              <a:path w="4623371" h="4114800">
                <a:moveTo>
                  <a:pt x="0" y="0"/>
                </a:moveTo>
                <a:lnTo>
                  <a:pt x="4623371" y="0"/>
                </a:lnTo>
                <a:lnTo>
                  <a:pt x="46233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13603" y="190500"/>
            <a:ext cx="7272677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2 – 4. PERANCANGAN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3167" y="7235825"/>
            <a:ext cx="4891520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1 Dokumen SRS Final Disetujui Stakeholder.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55330" y="1095375"/>
            <a:ext cx="727267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W2 - Nov W3)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7928" y="2048740"/>
            <a:ext cx="535335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2. Penyusunan Dokumen SRS (Blue Print Website)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3167" y="8626475"/>
            <a:ext cx="4891520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SRS final disetujui stakeholder, arsitektur project.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8403" y="3824128"/>
            <a:ext cx="1339178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W2 - Okt W4)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89455" y="3824128"/>
            <a:ext cx="1116393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(Okt W4 - Nov W1)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89455" y="2290601"/>
            <a:ext cx="470331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3. Design Database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95350" y="7235825"/>
            <a:ext cx="4891520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Pembuatan tabel database dan diagram alur bisnis.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95350" y="8626475"/>
            <a:ext cx="4891520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Database berhasil dibuat berdasarkan SRS.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28007" y="3824128"/>
            <a:ext cx="1496825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W1 - Nov W3)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90052" y="2290601"/>
            <a:ext cx="6509692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4. Perancangan Halaman Website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828485" y="7235825"/>
            <a:ext cx="5994747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Pembuatan esign awal halaman website.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828485" y="8626475"/>
            <a:ext cx="5960873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Pembuatan desain wireframe awal berdasarkan SRS.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AD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313603" y="190500"/>
            <a:ext cx="7497132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5 – 8. DEVELOPMENT 4 TAHAP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652" y="4149023"/>
            <a:ext cx="3936370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1: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Profil</a:t>
            </a: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Individu</a:t>
            </a: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lengkap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2: Riwayat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Karir</a:t>
            </a:r>
            <a:endParaRPr lang="en-US" sz="2499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3: Talent Snapshot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45422" y="1176491"/>
            <a:ext cx="727267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Jan W1)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9029" y="2413702"/>
            <a:ext cx="352611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5. Development Tahap 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69029" y="3499946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W3)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1212" y="4013594"/>
            <a:ext cx="3936370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4: Individual Career Plan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5: •Status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Suksesi</a:t>
            </a:r>
            <a:endParaRPr lang="en-US" sz="2499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6: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Analisis</a:t>
            </a: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Gap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Kompetensi</a:t>
            </a:r>
            <a:endParaRPr lang="en-US" sz="2499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060503" y="2413702"/>
            <a:ext cx="352611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6. Development Tahap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117123" y="3446279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W4)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29293" y="4001990"/>
            <a:ext cx="4107820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7: •Individual Development Plan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8: •Review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Tahunan</a:t>
            </a:r>
            <a:endParaRPr lang="en-US" sz="2499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9: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Pelatihan</a:t>
            </a: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/ </a:t>
            </a:r>
            <a:r>
              <a:rPr lang="en-US" sz="2499" b="1" dirty="0" err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Sertifikasi</a:t>
            </a:r>
            <a:endParaRPr lang="en-US" sz="2499" b="1" dirty="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605788" y="2413702"/>
            <a:ext cx="352611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7. Development Tahap 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53392" y="3454918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W4)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52989" y="3969452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Fitur Tambahan (Jika ada)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01189" y="2413702"/>
            <a:ext cx="352611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8. Development Tahap 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68360" y="3454918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Jan W1)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61284" y="6702425"/>
            <a:ext cx="3977845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3 Halaman dan sudah melakukan proses agile atau proses perbaikan per halaman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56499" y="6635750"/>
            <a:ext cx="3977845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3 Halaman dan sudah melakukan proses agile atau proses perbaikan per halaman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96320" y="6635750"/>
            <a:ext cx="3977845" cy="218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3 Halaman dan sudah melakukan proses agile atau proses perbaikan per halaman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048870" y="6635750"/>
            <a:ext cx="3977845" cy="262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Fitur Tambahan Jika ada dan sudah melakukan proses agile atau proses perbaikan per halaman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369029" y="2156524"/>
            <a:ext cx="17420330" cy="2577439"/>
            <a:chOff x="0" y="0"/>
            <a:chExt cx="3584430" cy="5303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84430" cy="530337"/>
            </a:xfrm>
            <a:custGeom>
              <a:avLst/>
              <a:gdLst/>
              <a:ahLst/>
              <a:cxnLst/>
              <a:rect l="l" t="t" r="r" b="b"/>
              <a:pathLst>
                <a:path w="3584430" h="530337">
                  <a:moveTo>
                    <a:pt x="8680" y="0"/>
                  </a:moveTo>
                  <a:lnTo>
                    <a:pt x="3575750" y="0"/>
                  </a:lnTo>
                  <a:cubicBezTo>
                    <a:pt x="3578052" y="0"/>
                    <a:pt x="3580260" y="915"/>
                    <a:pt x="3581888" y="2542"/>
                  </a:cubicBezTo>
                  <a:cubicBezTo>
                    <a:pt x="3583515" y="4170"/>
                    <a:pt x="3584430" y="6378"/>
                    <a:pt x="3584430" y="8680"/>
                  </a:cubicBezTo>
                  <a:lnTo>
                    <a:pt x="3584430" y="521657"/>
                  </a:lnTo>
                  <a:cubicBezTo>
                    <a:pt x="3584430" y="526451"/>
                    <a:pt x="3580544" y="530337"/>
                    <a:pt x="3575750" y="530337"/>
                  </a:cubicBezTo>
                  <a:lnTo>
                    <a:pt x="8680" y="530337"/>
                  </a:lnTo>
                  <a:cubicBezTo>
                    <a:pt x="3886" y="530337"/>
                    <a:pt x="0" y="526451"/>
                    <a:pt x="0" y="521657"/>
                  </a:cubicBezTo>
                  <a:lnTo>
                    <a:pt x="0" y="8680"/>
                  </a:lnTo>
                  <a:cubicBezTo>
                    <a:pt x="0" y="3886"/>
                    <a:pt x="3886" y="0"/>
                    <a:pt x="8680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584430" cy="587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313603" y="190500"/>
            <a:ext cx="89885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9 –11. TEST, IMPLEMENTASI &amp; MONITORING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91743" y="1176491"/>
            <a:ext cx="342221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(Des W4 - Jan W4)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6651" y="2730519"/>
            <a:ext cx="4026162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9. Test Aplikasi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25753" y="3352819"/>
            <a:ext cx="330562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(Des W4 - Jan W2) 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369029" y="5010188"/>
            <a:ext cx="17485137" cy="2352592"/>
            <a:chOff x="0" y="0"/>
            <a:chExt cx="3597765" cy="4840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97765" cy="484072"/>
            </a:xfrm>
            <a:custGeom>
              <a:avLst/>
              <a:gdLst/>
              <a:ahLst/>
              <a:cxnLst/>
              <a:rect l="l" t="t" r="r" b="b"/>
              <a:pathLst>
                <a:path w="3597765" h="484072">
                  <a:moveTo>
                    <a:pt x="8648" y="0"/>
                  </a:moveTo>
                  <a:lnTo>
                    <a:pt x="3589117" y="0"/>
                  </a:lnTo>
                  <a:cubicBezTo>
                    <a:pt x="3591411" y="0"/>
                    <a:pt x="3593610" y="911"/>
                    <a:pt x="3595232" y="2533"/>
                  </a:cubicBezTo>
                  <a:cubicBezTo>
                    <a:pt x="3596854" y="4155"/>
                    <a:pt x="3597765" y="6354"/>
                    <a:pt x="3597765" y="8648"/>
                  </a:cubicBezTo>
                  <a:lnTo>
                    <a:pt x="3597765" y="475425"/>
                  </a:lnTo>
                  <a:cubicBezTo>
                    <a:pt x="3597765" y="480201"/>
                    <a:pt x="3593893" y="484072"/>
                    <a:pt x="3589117" y="484072"/>
                  </a:cubicBezTo>
                  <a:lnTo>
                    <a:pt x="8648" y="484072"/>
                  </a:lnTo>
                  <a:cubicBezTo>
                    <a:pt x="6354" y="484072"/>
                    <a:pt x="4155" y="483161"/>
                    <a:pt x="2533" y="481540"/>
                  </a:cubicBezTo>
                  <a:cubicBezTo>
                    <a:pt x="911" y="479918"/>
                    <a:pt x="0" y="477718"/>
                    <a:pt x="0" y="475425"/>
                  </a:cubicBezTo>
                  <a:lnTo>
                    <a:pt x="0" y="8648"/>
                  </a:lnTo>
                  <a:cubicBezTo>
                    <a:pt x="0" y="6354"/>
                    <a:pt x="911" y="4155"/>
                    <a:pt x="2533" y="2533"/>
                  </a:cubicBezTo>
                  <a:cubicBezTo>
                    <a:pt x="4155" y="911"/>
                    <a:pt x="6354" y="0"/>
                    <a:pt x="864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597765" cy="5412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69029" y="7636304"/>
            <a:ext cx="17420330" cy="2487238"/>
            <a:chOff x="0" y="0"/>
            <a:chExt cx="3584430" cy="51177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584430" cy="511777"/>
            </a:xfrm>
            <a:custGeom>
              <a:avLst/>
              <a:gdLst/>
              <a:ahLst/>
              <a:cxnLst/>
              <a:rect l="l" t="t" r="r" b="b"/>
              <a:pathLst>
                <a:path w="3584430" h="511777">
                  <a:moveTo>
                    <a:pt x="8680" y="0"/>
                  </a:moveTo>
                  <a:lnTo>
                    <a:pt x="3575750" y="0"/>
                  </a:lnTo>
                  <a:cubicBezTo>
                    <a:pt x="3578052" y="0"/>
                    <a:pt x="3580260" y="915"/>
                    <a:pt x="3581888" y="2542"/>
                  </a:cubicBezTo>
                  <a:cubicBezTo>
                    <a:pt x="3583515" y="4170"/>
                    <a:pt x="3584430" y="6378"/>
                    <a:pt x="3584430" y="8680"/>
                  </a:cubicBezTo>
                  <a:lnTo>
                    <a:pt x="3584430" y="503097"/>
                  </a:lnTo>
                  <a:cubicBezTo>
                    <a:pt x="3584430" y="507891"/>
                    <a:pt x="3580544" y="511777"/>
                    <a:pt x="3575750" y="511777"/>
                  </a:cubicBezTo>
                  <a:lnTo>
                    <a:pt x="8680" y="511777"/>
                  </a:lnTo>
                  <a:cubicBezTo>
                    <a:pt x="3886" y="511777"/>
                    <a:pt x="0" y="507891"/>
                    <a:pt x="0" y="503097"/>
                  </a:cubicBezTo>
                  <a:lnTo>
                    <a:pt x="0" y="8680"/>
                  </a:lnTo>
                  <a:cubicBezTo>
                    <a:pt x="0" y="3886"/>
                    <a:pt x="3886" y="0"/>
                    <a:pt x="8680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3584430" cy="568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439727" y="3035539"/>
            <a:ext cx="356489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Sistem Aplikasi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31152" y="5534063"/>
            <a:ext cx="7122855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10. Implementasi Di Localhost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4472" y="6153188"/>
            <a:ext cx="330562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W1 - Jan W3) 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1152" y="8162880"/>
            <a:ext cx="5581689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11. Monitoring Aplikasi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64472" y="8785181"/>
            <a:ext cx="3305627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W2 - Jan W4)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91743" y="2282844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29" name="AutoShape 29"/>
          <p:cNvSpPr/>
          <p:nvPr/>
        </p:nvSpPr>
        <p:spPr>
          <a:xfrm>
            <a:off x="8200907" y="2156524"/>
            <a:ext cx="0" cy="7967018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AutoShape 30"/>
          <p:cNvSpPr/>
          <p:nvPr/>
        </p:nvSpPr>
        <p:spPr>
          <a:xfrm>
            <a:off x="12357048" y="2156524"/>
            <a:ext cx="0" cy="8015978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TextBox 31"/>
          <p:cNvSpPr txBox="1"/>
          <p:nvPr/>
        </p:nvSpPr>
        <p:spPr>
          <a:xfrm>
            <a:off x="13841033" y="2282844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10997" y="3013460"/>
            <a:ext cx="4716154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atau test pada semua halaman yang sudah dibuat.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448557" y="6001008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sistem aplikasi di localhost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00574" y="5248313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849863" y="5248313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719827" y="5978929"/>
            <a:ext cx="4716154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atau test pada semua halaman yang sudah dibuat.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420677" y="8437234"/>
            <a:ext cx="3793281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Perbaikan jika ditemukan kesalahan/bug pada aplikasi website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800574" y="7877130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849863" y="7877130"/>
            <a:ext cx="2716011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719827" y="8607746"/>
            <a:ext cx="4716154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Pengujian atau test pada semua halaman yang sudah dibuat.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369029" y="2156524"/>
            <a:ext cx="5648866" cy="7967018"/>
            <a:chOff x="0" y="0"/>
            <a:chExt cx="1162318" cy="163930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62318" cy="1639304"/>
            </a:xfrm>
            <a:custGeom>
              <a:avLst/>
              <a:gdLst/>
              <a:ahLst/>
              <a:cxnLst/>
              <a:rect l="l" t="t" r="r" b="b"/>
              <a:pathLst>
                <a:path w="1162318" h="1639304">
                  <a:moveTo>
                    <a:pt x="26768" y="0"/>
                  </a:moveTo>
                  <a:lnTo>
                    <a:pt x="1135550" y="0"/>
                  </a:lnTo>
                  <a:cubicBezTo>
                    <a:pt x="1150334" y="0"/>
                    <a:pt x="1162318" y="11984"/>
                    <a:pt x="1162318" y="26768"/>
                  </a:cubicBezTo>
                  <a:lnTo>
                    <a:pt x="1162318" y="1612536"/>
                  </a:lnTo>
                  <a:cubicBezTo>
                    <a:pt x="1162318" y="1627319"/>
                    <a:pt x="1150334" y="1639304"/>
                    <a:pt x="1135550" y="1639304"/>
                  </a:cubicBezTo>
                  <a:lnTo>
                    <a:pt x="26768" y="1639304"/>
                  </a:lnTo>
                  <a:cubicBezTo>
                    <a:pt x="11984" y="1639304"/>
                    <a:pt x="0" y="1627319"/>
                    <a:pt x="0" y="1612536"/>
                  </a:cubicBezTo>
                  <a:lnTo>
                    <a:pt x="0" y="26768"/>
                  </a:lnTo>
                  <a:cubicBezTo>
                    <a:pt x="0" y="11984"/>
                    <a:pt x="11984" y="0"/>
                    <a:pt x="2676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162318" cy="169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412841" y="2156524"/>
            <a:ext cx="5578606" cy="7967018"/>
            <a:chOff x="0" y="0"/>
            <a:chExt cx="1147861" cy="16393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7861" cy="1639304"/>
            </a:xfrm>
            <a:custGeom>
              <a:avLst/>
              <a:gdLst/>
              <a:ahLst/>
              <a:cxnLst/>
              <a:rect l="l" t="t" r="r" b="b"/>
              <a:pathLst>
                <a:path w="1147861" h="1639304">
                  <a:moveTo>
                    <a:pt x="27105" y="0"/>
                  </a:moveTo>
                  <a:lnTo>
                    <a:pt x="1120756" y="0"/>
                  </a:lnTo>
                  <a:cubicBezTo>
                    <a:pt x="1135726" y="0"/>
                    <a:pt x="1147861" y="12135"/>
                    <a:pt x="1147861" y="27105"/>
                  </a:cubicBezTo>
                  <a:lnTo>
                    <a:pt x="1147861" y="1612199"/>
                  </a:lnTo>
                  <a:cubicBezTo>
                    <a:pt x="1147861" y="1619388"/>
                    <a:pt x="1145005" y="1626282"/>
                    <a:pt x="1139922" y="1631365"/>
                  </a:cubicBezTo>
                  <a:cubicBezTo>
                    <a:pt x="1134839" y="1636448"/>
                    <a:pt x="1127945" y="1639304"/>
                    <a:pt x="1120756" y="1639304"/>
                  </a:cubicBezTo>
                  <a:lnTo>
                    <a:pt x="27105" y="1639304"/>
                  </a:lnTo>
                  <a:cubicBezTo>
                    <a:pt x="12135" y="1639304"/>
                    <a:pt x="0" y="1627169"/>
                    <a:pt x="0" y="1612199"/>
                  </a:cubicBezTo>
                  <a:lnTo>
                    <a:pt x="0" y="27105"/>
                  </a:lnTo>
                  <a:cubicBezTo>
                    <a:pt x="0" y="19916"/>
                    <a:pt x="2856" y="13022"/>
                    <a:pt x="7939" y="7939"/>
                  </a:cubicBezTo>
                  <a:cubicBezTo>
                    <a:pt x="13022" y="2856"/>
                    <a:pt x="19916" y="0"/>
                    <a:pt x="27105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147861" cy="169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28258" y="2156524"/>
            <a:ext cx="5461101" cy="7967018"/>
            <a:chOff x="0" y="0"/>
            <a:chExt cx="1123683" cy="16393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23683" cy="1639304"/>
            </a:xfrm>
            <a:custGeom>
              <a:avLst/>
              <a:gdLst/>
              <a:ahLst/>
              <a:cxnLst/>
              <a:rect l="l" t="t" r="r" b="b"/>
              <a:pathLst>
                <a:path w="1123683" h="1639304">
                  <a:moveTo>
                    <a:pt x="27688" y="0"/>
                  </a:moveTo>
                  <a:lnTo>
                    <a:pt x="1095995" y="0"/>
                  </a:lnTo>
                  <a:cubicBezTo>
                    <a:pt x="1103338" y="0"/>
                    <a:pt x="1110381" y="2917"/>
                    <a:pt x="1115573" y="8110"/>
                  </a:cubicBezTo>
                  <a:cubicBezTo>
                    <a:pt x="1120766" y="13302"/>
                    <a:pt x="1123683" y="20345"/>
                    <a:pt x="1123683" y="27688"/>
                  </a:cubicBezTo>
                  <a:lnTo>
                    <a:pt x="1123683" y="1611616"/>
                  </a:lnTo>
                  <a:cubicBezTo>
                    <a:pt x="1123683" y="1626907"/>
                    <a:pt x="1111287" y="1639304"/>
                    <a:pt x="1095995" y="1639304"/>
                  </a:cubicBezTo>
                  <a:lnTo>
                    <a:pt x="27688" y="1639304"/>
                  </a:lnTo>
                  <a:cubicBezTo>
                    <a:pt x="12397" y="1639304"/>
                    <a:pt x="0" y="1626907"/>
                    <a:pt x="0" y="1611616"/>
                  </a:cubicBezTo>
                  <a:lnTo>
                    <a:pt x="0" y="27688"/>
                  </a:lnTo>
                  <a:cubicBezTo>
                    <a:pt x="0" y="12397"/>
                    <a:pt x="12397" y="0"/>
                    <a:pt x="2768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123683" cy="16964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831152" y="4437790"/>
            <a:ext cx="3360526" cy="705710"/>
          </a:xfrm>
          <a:custGeom>
            <a:avLst/>
            <a:gdLst/>
            <a:ahLst/>
            <a:cxnLst/>
            <a:rect l="l" t="t" r="r" b="b"/>
            <a:pathLst>
              <a:path w="3360526" h="705710">
                <a:moveTo>
                  <a:pt x="0" y="0"/>
                </a:moveTo>
                <a:lnTo>
                  <a:pt x="3360526" y="0"/>
                </a:lnTo>
                <a:lnTo>
                  <a:pt x="3360526" y="705710"/>
                </a:lnTo>
                <a:lnTo>
                  <a:pt x="0" y="705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13603" y="190500"/>
            <a:ext cx="8988508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AKTIVITAS 12 – 14. DEPLOYMENT SAMPAI SIAP DIGUNAKAN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68086" y="1124258"/>
            <a:ext cx="3422215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6651" y="2730519"/>
            <a:ext cx="4026162" cy="139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12. Deployment (Siap digunakan)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86051" y="5502679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4500132"/>
            <a:ext cx="3108079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16443" y="6082883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Aplikasi dapat digunakan secara umum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09092" y="7092405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6443" y="7718380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Melakukan Deployment bersama tim.</a:t>
            </a:r>
          </a:p>
        </p:txBody>
      </p:sp>
      <p:sp>
        <p:nvSpPr>
          <p:cNvPr id="28" name="Freeform 28"/>
          <p:cNvSpPr/>
          <p:nvPr/>
        </p:nvSpPr>
        <p:spPr>
          <a:xfrm>
            <a:off x="6960193" y="5215243"/>
            <a:ext cx="3360526" cy="705710"/>
          </a:xfrm>
          <a:custGeom>
            <a:avLst/>
            <a:gdLst/>
            <a:ahLst/>
            <a:cxnLst/>
            <a:rect l="l" t="t" r="r" b="b"/>
            <a:pathLst>
              <a:path w="3360526" h="705710">
                <a:moveTo>
                  <a:pt x="0" y="0"/>
                </a:moveTo>
                <a:lnTo>
                  <a:pt x="3360526" y="0"/>
                </a:lnTo>
                <a:lnTo>
                  <a:pt x="3360526" y="705710"/>
                </a:lnTo>
                <a:lnTo>
                  <a:pt x="0" y="705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6941558" y="2730519"/>
            <a:ext cx="4026162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13. Dokumentasi Penggunaan Website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000957" y="6205537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122772" y="5291859"/>
            <a:ext cx="3108079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31349" y="6785742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Membuat panduan untuk penggunaan website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023998" y="7795264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031349" y="8421239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Membuat dokumentasi untuk penggunaan website.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915372" y="2872223"/>
            <a:ext cx="4026162" cy="209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14. Projek Website Siap Digunakan</a:t>
            </a:r>
          </a:p>
        </p:txBody>
      </p:sp>
      <p:sp>
        <p:nvSpPr>
          <p:cNvPr id="36" name="Freeform 36"/>
          <p:cNvSpPr/>
          <p:nvPr/>
        </p:nvSpPr>
        <p:spPr>
          <a:xfrm>
            <a:off x="12813700" y="5215243"/>
            <a:ext cx="3360526" cy="705710"/>
          </a:xfrm>
          <a:custGeom>
            <a:avLst/>
            <a:gdLst/>
            <a:ahLst/>
            <a:cxnLst/>
            <a:rect l="l" t="t" r="r" b="b"/>
            <a:pathLst>
              <a:path w="3360526" h="705710">
                <a:moveTo>
                  <a:pt x="0" y="0"/>
                </a:moveTo>
                <a:lnTo>
                  <a:pt x="3360526" y="0"/>
                </a:lnTo>
                <a:lnTo>
                  <a:pt x="3360526" y="705710"/>
                </a:lnTo>
                <a:lnTo>
                  <a:pt x="0" y="7057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2997812" y="5281078"/>
            <a:ext cx="3108079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(Jan W3 - Jan W4)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945072" y="6290538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Target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975464" y="6870742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Sesi training pengguna selesai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68112" y="7880264"/>
            <a:ext cx="33056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Catatan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975464" y="8506239"/>
            <a:ext cx="3936370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Membuat dokumentasi untuk penggunaan website.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4731380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9272413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3713609" y="1933883"/>
            <a:ext cx="0" cy="8629134"/>
          </a:xfrm>
          <a:prstGeom prst="line">
            <a:avLst/>
          </a:prstGeom>
          <a:ln w="38100" cap="flat">
            <a:solidFill>
              <a:srgbClr val="EDE5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2328258" y="2451151"/>
            <a:ext cx="5461101" cy="7005818"/>
            <a:chOff x="0" y="0"/>
            <a:chExt cx="1123683" cy="14415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23683" cy="1441526"/>
            </a:xfrm>
            <a:custGeom>
              <a:avLst/>
              <a:gdLst/>
              <a:ahLst/>
              <a:cxnLst/>
              <a:rect l="l" t="t" r="r" b="b"/>
              <a:pathLst>
                <a:path w="1123683" h="1441526">
                  <a:moveTo>
                    <a:pt x="27688" y="0"/>
                  </a:moveTo>
                  <a:lnTo>
                    <a:pt x="1095995" y="0"/>
                  </a:lnTo>
                  <a:cubicBezTo>
                    <a:pt x="1103338" y="0"/>
                    <a:pt x="1110381" y="2917"/>
                    <a:pt x="1115573" y="8110"/>
                  </a:cubicBezTo>
                  <a:cubicBezTo>
                    <a:pt x="1120766" y="13302"/>
                    <a:pt x="1123683" y="20345"/>
                    <a:pt x="1123683" y="27688"/>
                  </a:cubicBezTo>
                  <a:lnTo>
                    <a:pt x="1123683" y="1413838"/>
                  </a:lnTo>
                  <a:cubicBezTo>
                    <a:pt x="1123683" y="1429130"/>
                    <a:pt x="1111287" y="1441526"/>
                    <a:pt x="1095995" y="1441526"/>
                  </a:cubicBezTo>
                  <a:lnTo>
                    <a:pt x="27688" y="1441526"/>
                  </a:lnTo>
                  <a:cubicBezTo>
                    <a:pt x="12397" y="1441526"/>
                    <a:pt x="0" y="1429130"/>
                    <a:pt x="0" y="1413838"/>
                  </a:cubicBezTo>
                  <a:lnTo>
                    <a:pt x="0" y="27688"/>
                  </a:lnTo>
                  <a:cubicBezTo>
                    <a:pt x="0" y="12397"/>
                    <a:pt x="12397" y="0"/>
                    <a:pt x="27688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123683" cy="1498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332912" y="2451151"/>
            <a:ext cx="11995346" cy="7140087"/>
          </a:xfrm>
          <a:custGeom>
            <a:avLst/>
            <a:gdLst/>
            <a:ahLst/>
            <a:cxnLst/>
            <a:rect l="l" t="t" r="r" b="b"/>
            <a:pathLst>
              <a:path w="11995346" h="7140087">
                <a:moveTo>
                  <a:pt x="0" y="0"/>
                </a:moveTo>
                <a:lnTo>
                  <a:pt x="11995346" y="0"/>
                </a:lnTo>
                <a:lnTo>
                  <a:pt x="11995346" y="7140087"/>
                </a:lnTo>
                <a:lnTo>
                  <a:pt x="0" y="7140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669723" y="190500"/>
            <a:ext cx="8064983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BEBAN KERJA MEMUNCAK DI NOV W3 - DES W4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44236" y="2649474"/>
            <a:ext cx="4667022" cy="280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5 aktivitas paralel di Nov W3, saat 4 tahap development dimulai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99726" y="5600700"/>
            <a:ext cx="4718165" cy="365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Dari Nov W3 hingga Des W4 selalu ada minimal 4 aktivitas berjalan bersamaan, sehingga koordinasi tim dan pembagian tugas perlu dijaga.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9723" y="1886258"/>
            <a:ext cx="7792237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Jumlah aktivitas (dari 14) yang berjalan bersamaan tiap minggu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3603" y="190500"/>
            <a:ext cx="7497132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MONITORING PROGRES: PLAN VS ACTUAL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1303" y="3656631"/>
            <a:ext cx="3936370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1: Profil Individu lengkap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2: Riwayat Karir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Hal 3: Talent Snapshot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55373" y="1339850"/>
            <a:ext cx="1222260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(Baris Actual pada Excel diisi berkala untuk membandingkan rencana dengan realisasi)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9528" y="3607100"/>
            <a:ext cx="3305627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(Nov W3 - Des W3)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962074" y="2181162"/>
            <a:ext cx="4064642" cy="4578413"/>
            <a:chOff x="0" y="0"/>
            <a:chExt cx="836346" cy="9420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36346" cy="942060"/>
            </a:xfrm>
            <a:custGeom>
              <a:avLst/>
              <a:gdLst/>
              <a:ahLst/>
              <a:cxnLst/>
              <a:rect l="l" t="t" r="r" b="b"/>
              <a:pathLst>
                <a:path w="836346" h="942060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460690" y="2181162"/>
            <a:ext cx="4064642" cy="4578413"/>
            <a:chOff x="0" y="0"/>
            <a:chExt cx="836346" cy="9420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36346" cy="942060"/>
            </a:xfrm>
            <a:custGeom>
              <a:avLst/>
              <a:gdLst/>
              <a:ahLst/>
              <a:cxnLst/>
              <a:rect l="l" t="t" r="r" b="b"/>
              <a:pathLst>
                <a:path w="836346" h="942060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950597" y="2181162"/>
            <a:ext cx="4064642" cy="4578413"/>
            <a:chOff x="0" y="0"/>
            <a:chExt cx="836346" cy="9420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36346" cy="942060"/>
            </a:xfrm>
            <a:custGeom>
              <a:avLst/>
              <a:gdLst/>
              <a:ahLst/>
              <a:cxnLst/>
              <a:rect l="l" t="t" r="r" b="b"/>
              <a:pathLst>
                <a:path w="836346" h="942060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04788" y="2181162"/>
            <a:ext cx="4064642" cy="4578413"/>
            <a:chOff x="0" y="0"/>
            <a:chExt cx="836346" cy="9420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36346" cy="942060"/>
            </a:xfrm>
            <a:custGeom>
              <a:avLst/>
              <a:gdLst/>
              <a:ahLst/>
              <a:cxnLst/>
              <a:rect l="l" t="t" r="r" b="b"/>
              <a:pathLst>
                <a:path w="836346" h="942060">
                  <a:moveTo>
                    <a:pt x="37201" y="0"/>
                  </a:moveTo>
                  <a:lnTo>
                    <a:pt x="799145" y="0"/>
                  </a:lnTo>
                  <a:cubicBezTo>
                    <a:pt x="809011" y="0"/>
                    <a:pt x="818473" y="3919"/>
                    <a:pt x="825450" y="10896"/>
                  </a:cubicBezTo>
                  <a:cubicBezTo>
                    <a:pt x="832427" y="17873"/>
                    <a:pt x="836346" y="27335"/>
                    <a:pt x="836346" y="37201"/>
                  </a:cubicBezTo>
                  <a:lnTo>
                    <a:pt x="836346" y="904859"/>
                  </a:lnTo>
                  <a:cubicBezTo>
                    <a:pt x="836346" y="914725"/>
                    <a:pt x="832427" y="924188"/>
                    <a:pt x="825450" y="931164"/>
                  </a:cubicBezTo>
                  <a:cubicBezTo>
                    <a:pt x="818473" y="938141"/>
                    <a:pt x="809011" y="942060"/>
                    <a:pt x="799145" y="942060"/>
                  </a:cubicBezTo>
                  <a:lnTo>
                    <a:pt x="37201" y="942060"/>
                  </a:lnTo>
                  <a:cubicBezTo>
                    <a:pt x="27335" y="942060"/>
                    <a:pt x="17873" y="938141"/>
                    <a:pt x="10896" y="931164"/>
                  </a:cubicBezTo>
                  <a:cubicBezTo>
                    <a:pt x="3919" y="924188"/>
                    <a:pt x="0" y="914725"/>
                    <a:pt x="0" y="904859"/>
                  </a:cubicBezTo>
                  <a:lnTo>
                    <a:pt x="0" y="37201"/>
                  </a:lnTo>
                  <a:cubicBezTo>
                    <a:pt x="0" y="27335"/>
                    <a:pt x="3919" y="17873"/>
                    <a:pt x="10896" y="10896"/>
                  </a:cubicBezTo>
                  <a:cubicBezTo>
                    <a:pt x="17873" y="3919"/>
                    <a:pt x="27335" y="0"/>
                    <a:pt x="37201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36346" cy="999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74488" y="7302500"/>
            <a:ext cx="17852228" cy="2636938"/>
            <a:chOff x="0" y="0"/>
            <a:chExt cx="3673298" cy="5425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673298" cy="542580"/>
            </a:xfrm>
            <a:custGeom>
              <a:avLst/>
              <a:gdLst/>
              <a:ahLst/>
              <a:cxnLst/>
              <a:rect l="l" t="t" r="r" b="b"/>
              <a:pathLst>
                <a:path w="3673298" h="542580">
                  <a:moveTo>
                    <a:pt x="8470" y="0"/>
                  </a:moveTo>
                  <a:lnTo>
                    <a:pt x="3664828" y="0"/>
                  </a:lnTo>
                  <a:cubicBezTo>
                    <a:pt x="3667074" y="0"/>
                    <a:pt x="3669229" y="892"/>
                    <a:pt x="3670817" y="2481"/>
                  </a:cubicBezTo>
                  <a:cubicBezTo>
                    <a:pt x="3672406" y="4069"/>
                    <a:pt x="3673298" y="6224"/>
                    <a:pt x="3673298" y="8470"/>
                  </a:cubicBezTo>
                  <a:lnTo>
                    <a:pt x="3673298" y="534110"/>
                  </a:lnTo>
                  <a:cubicBezTo>
                    <a:pt x="3673298" y="536356"/>
                    <a:pt x="3672406" y="538510"/>
                    <a:pt x="3670817" y="540099"/>
                  </a:cubicBezTo>
                  <a:cubicBezTo>
                    <a:pt x="3669229" y="541687"/>
                    <a:pt x="3667074" y="542580"/>
                    <a:pt x="3664828" y="542580"/>
                  </a:cubicBezTo>
                  <a:lnTo>
                    <a:pt x="8470" y="542580"/>
                  </a:lnTo>
                  <a:cubicBezTo>
                    <a:pt x="6224" y="542580"/>
                    <a:pt x="4069" y="541687"/>
                    <a:pt x="2481" y="540099"/>
                  </a:cubicBezTo>
                  <a:cubicBezTo>
                    <a:pt x="892" y="538510"/>
                    <a:pt x="0" y="536356"/>
                    <a:pt x="0" y="534110"/>
                  </a:cubicBezTo>
                  <a:lnTo>
                    <a:pt x="0" y="8470"/>
                  </a:lnTo>
                  <a:cubicBezTo>
                    <a:pt x="0" y="6224"/>
                    <a:pt x="892" y="4069"/>
                    <a:pt x="2481" y="2481"/>
                  </a:cubicBezTo>
                  <a:cubicBezTo>
                    <a:pt x="4069" y="892"/>
                    <a:pt x="6224" y="0"/>
                    <a:pt x="8470" y="0"/>
                  </a:cubicBezTo>
                  <a:close/>
                </a:path>
              </a:pathLst>
            </a:custGeom>
            <a:solidFill>
              <a:srgbClr val="D5AD73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3673298" cy="599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87634" y="3875706"/>
            <a:ext cx="3169415" cy="1308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Jadwal rencana tiap aktivitas (sel biru di Excel)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33153" y="3034029"/>
            <a:ext cx="621872" cy="621872"/>
          </a:xfrm>
          <a:custGeom>
            <a:avLst/>
            <a:gdLst/>
            <a:ahLst/>
            <a:cxnLst/>
            <a:rect l="l" t="t" r="r" b="b"/>
            <a:pathLst>
              <a:path w="621872" h="621872">
                <a:moveTo>
                  <a:pt x="0" y="0"/>
                </a:moveTo>
                <a:lnTo>
                  <a:pt x="621872" y="0"/>
                </a:lnTo>
                <a:lnTo>
                  <a:pt x="621872" y="621873"/>
                </a:lnTo>
                <a:lnTo>
                  <a:pt x="0" y="6218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858650" y="2943524"/>
            <a:ext cx="1395918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PLAN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26665" y="3043855"/>
            <a:ext cx="2348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98690" y="3880485"/>
            <a:ext cx="3169415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Realisasi diisi berkala di baris Actual</a:t>
            </a:r>
          </a:p>
        </p:txBody>
      </p:sp>
      <p:sp>
        <p:nvSpPr>
          <p:cNvPr id="31" name="Freeform 31"/>
          <p:cNvSpPr/>
          <p:nvPr/>
        </p:nvSpPr>
        <p:spPr>
          <a:xfrm>
            <a:off x="5553343" y="3034029"/>
            <a:ext cx="621872" cy="621872"/>
          </a:xfrm>
          <a:custGeom>
            <a:avLst/>
            <a:gdLst/>
            <a:ahLst/>
            <a:cxnLst/>
            <a:rect l="l" t="t" r="r" b="b"/>
            <a:pathLst>
              <a:path w="621872" h="621872">
                <a:moveTo>
                  <a:pt x="0" y="0"/>
                </a:moveTo>
                <a:lnTo>
                  <a:pt x="621873" y="0"/>
                </a:lnTo>
                <a:lnTo>
                  <a:pt x="621873" y="621873"/>
                </a:lnTo>
                <a:lnTo>
                  <a:pt x="0" y="6218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6378840" y="2943524"/>
            <a:ext cx="2033652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ACTUAL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746855" y="3043855"/>
            <a:ext cx="2348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</a:t>
            </a:r>
          </a:p>
        </p:txBody>
      </p:sp>
      <p:sp>
        <p:nvSpPr>
          <p:cNvPr id="34" name="Freeform 34"/>
          <p:cNvSpPr/>
          <p:nvPr/>
        </p:nvSpPr>
        <p:spPr>
          <a:xfrm>
            <a:off x="10063437" y="3010628"/>
            <a:ext cx="621872" cy="621872"/>
          </a:xfrm>
          <a:custGeom>
            <a:avLst/>
            <a:gdLst/>
            <a:ahLst/>
            <a:cxnLst/>
            <a:rect l="l" t="t" r="r" b="b"/>
            <a:pathLst>
              <a:path w="621872" h="621872">
                <a:moveTo>
                  <a:pt x="0" y="0"/>
                </a:moveTo>
                <a:lnTo>
                  <a:pt x="621872" y="0"/>
                </a:lnTo>
                <a:lnTo>
                  <a:pt x="621872" y="621872"/>
                </a:lnTo>
                <a:lnTo>
                  <a:pt x="0" y="62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0888934" y="2920123"/>
            <a:ext cx="2033652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REVIEW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56949" y="3020454"/>
            <a:ext cx="2348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3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39163" y="3935566"/>
            <a:ext cx="3169415" cy="174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Bandingkan deviasi saat pertemuan rutin (Selisih antara plan dan actual)</a:t>
            </a:r>
          </a:p>
        </p:txBody>
      </p:sp>
      <p:sp>
        <p:nvSpPr>
          <p:cNvPr id="38" name="Freeform 38"/>
          <p:cNvSpPr/>
          <p:nvPr/>
        </p:nvSpPr>
        <p:spPr>
          <a:xfrm>
            <a:off x="14573530" y="3010628"/>
            <a:ext cx="621872" cy="621872"/>
          </a:xfrm>
          <a:custGeom>
            <a:avLst/>
            <a:gdLst/>
            <a:ahLst/>
            <a:cxnLst/>
            <a:rect l="l" t="t" r="r" b="b"/>
            <a:pathLst>
              <a:path w="621872" h="621872">
                <a:moveTo>
                  <a:pt x="0" y="0"/>
                </a:moveTo>
                <a:lnTo>
                  <a:pt x="621873" y="0"/>
                </a:lnTo>
                <a:lnTo>
                  <a:pt x="621873" y="621872"/>
                </a:lnTo>
                <a:lnTo>
                  <a:pt x="0" y="6218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5399027" y="2920123"/>
            <a:ext cx="2033652" cy="139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Tindak lanjut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767042" y="3020454"/>
            <a:ext cx="234848" cy="507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449257" y="4413219"/>
            <a:ext cx="3169415" cy="869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Atur ulang prioritas bila ada keterlambatan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45924" y="8085704"/>
            <a:ext cx="16427277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SRS harus disetujui stakeholder sebelum tahap perancangan dan development berjalan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Nov W3 – Des W4: minimal 4 aktivitas berjalan paralel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Januari: test, localhost, monitoring, deployment, dan dokumentasi bertumpuk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77427" y="7387203"/>
            <a:ext cx="7260493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Titik kritis yang dipantau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0497" y="3947073"/>
            <a:ext cx="17498862" cy="562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Menyelesaikan 14 aktivitas dalam 16 minggu (Oktober–Januari), mencakup keseluruhan proses mulai dari pengumpulan data hingga training.</a:t>
            </a:r>
          </a:p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Berhasil mengembangkan 9 tab modul melalui 4 tahap development, dilengkapi fitur login, register, dan search.</a:t>
            </a:r>
          </a:p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Website siap digunakan, telah melalui tahap deployment, dokumentasi, dan sesi training pengguna.</a:t>
            </a:r>
          </a:p>
          <a:p>
            <a:pPr marL="863595" lvl="1" indent="-431797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Proyek berjalan sesuai timeline dan target yang direncanakan sejak tahap awal.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0" y="1952933"/>
            <a:ext cx="18288000" cy="0"/>
          </a:xfrm>
          <a:prstGeom prst="line">
            <a:avLst/>
          </a:prstGeom>
          <a:ln w="38100" cap="flat">
            <a:solidFill>
              <a:srgbClr val="1A252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0" y="0"/>
            <a:ext cx="18288000" cy="1933883"/>
            <a:chOff x="0" y="0"/>
            <a:chExt cx="4816593" cy="50933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509335"/>
            </a:xfrm>
            <a:custGeom>
              <a:avLst/>
              <a:gdLst/>
              <a:ahLst/>
              <a:cxnLst/>
              <a:rect l="l" t="t" r="r" b="b"/>
              <a:pathLst>
                <a:path w="4816592" h="509335">
                  <a:moveTo>
                    <a:pt x="0" y="0"/>
                  </a:moveTo>
                  <a:lnTo>
                    <a:pt x="4816592" y="0"/>
                  </a:lnTo>
                  <a:lnTo>
                    <a:pt x="4816592" y="509335"/>
                  </a:lnTo>
                  <a:lnTo>
                    <a:pt x="0" y="509335"/>
                  </a:lnTo>
                  <a:close/>
                </a:path>
              </a:pathLst>
            </a:custGeom>
            <a:solidFill>
              <a:srgbClr val="EDE5D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4816593" cy="566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58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1991447" y="215648"/>
            <a:ext cx="4565597" cy="813052"/>
          </a:xfrm>
          <a:custGeom>
            <a:avLst/>
            <a:gdLst/>
            <a:ahLst/>
            <a:cxnLst/>
            <a:rect l="l" t="t" r="r" b="b"/>
            <a:pathLst>
              <a:path w="4565597" h="813052">
                <a:moveTo>
                  <a:pt x="0" y="0"/>
                </a:moveTo>
                <a:lnTo>
                  <a:pt x="4565597" y="0"/>
                </a:lnTo>
                <a:lnTo>
                  <a:pt x="4565597" y="813052"/>
                </a:lnTo>
                <a:lnTo>
                  <a:pt x="0" y="81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557044" y="89493"/>
            <a:ext cx="1232315" cy="939207"/>
          </a:xfrm>
          <a:custGeom>
            <a:avLst/>
            <a:gdLst/>
            <a:ahLst/>
            <a:cxnLst/>
            <a:rect l="l" t="t" r="r" b="b"/>
            <a:pathLst>
              <a:path w="1232315" h="939207">
                <a:moveTo>
                  <a:pt x="0" y="0"/>
                </a:moveTo>
                <a:lnTo>
                  <a:pt x="1232315" y="0"/>
                </a:lnTo>
                <a:lnTo>
                  <a:pt x="1232315" y="939207"/>
                </a:lnTo>
                <a:lnTo>
                  <a:pt x="0" y="9392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581698"/>
            <a:ext cx="16230600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KESIMPULAN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885</Words>
  <Application>Microsoft Office PowerPoint</Application>
  <PresentationFormat>Custom</PresentationFormat>
  <Paragraphs>146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Cambria</vt:lpstr>
      <vt:lpstr>Cambria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Plan</dc:title>
  <cp:lastModifiedBy>Al Qadri</cp:lastModifiedBy>
  <cp:revision>2</cp:revision>
  <dcterms:created xsi:type="dcterms:W3CDTF">2006-08-16T00:00:00Z</dcterms:created>
  <dcterms:modified xsi:type="dcterms:W3CDTF">2026-09-29T07:19:26Z</dcterms:modified>
  <dc:identifier>DAHWiWPAEtk</dc:identifier>
</cp:coreProperties>
</file>
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3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BBB7CA-DFA9-4582-AE2B-40A373F4446A}" type="datetimeFigureOut">
              <a:rPr lang="en-ID" smtClean="0"/>
              <a:t>27/09/2026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EE3729-215D-44BC-9F63-9F59077FC58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1833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Answer key: 1 eaten; 2 has; 3 never; 4 Has; 5 haven’t. Explain: use past simple for specific follow-up details (When did you try it?).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D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017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0E7D76"/>
                </a:solidFill>
                <a:latin typeface="Aptos"/>
              </a:defRPr>
            </a:pPr>
            <a:r>
              <a:t>DAY 1 • RESTAURANT + MEETING PEOPLE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68096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3100" b="1">
                <a:solidFill>
                  <a:srgbClr val="162737"/>
                </a:solidFill>
                <a:latin typeface="Aptos"/>
              </a:defRPr>
            </a:pPr>
            <a:r>
              <a:t>RESTAURANT &amp; MEETING PEOPLE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508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 b="0">
                <a:solidFill>
                  <a:srgbClr val="5A6970"/>
                </a:solidFill>
                <a:latin typeface="Aptos"/>
              </a:defRPr>
            </a:pPr>
            <a:r>
              <a:t>Asking about food experiences • Meeting someone • Ordering food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01384"/>
            <a:ext cx="10972800" cy="13716"/>
          </a:xfrm>
          <a:prstGeom prst="rect">
            <a:avLst/>
          </a:prstGeom>
          <a:solidFill>
            <a:srgbClr val="D2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6547104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1">
                <a:solidFill>
                  <a:srgbClr val="0E7D76"/>
                </a:solidFill>
                <a:latin typeface="Aptos"/>
              </a:defRPr>
            </a:pPr>
            <a:r>
              <a:t>MS ADELA’S CLASS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37960"/>
            <a:ext cx="914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5A6970"/>
                </a:solidFill>
                <a:latin typeface="Aptos"/>
              </a:defRPr>
            </a:pPr>
            <a:r>
              <a:rPr dirty="0"/>
              <a:t>01 / 1</a:t>
            </a:r>
            <a:r>
              <a:rPr lang="en-US" dirty="0"/>
              <a:t>0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10881360" cy="3383280"/>
          </a:xfrm>
          <a:prstGeom prst="roundRect">
            <a:avLst/>
          </a:prstGeom>
          <a:solidFill>
            <a:srgbClr val="162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283464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3500" b="1">
                <a:solidFill>
                  <a:srgbClr val="FFFFFF"/>
                </a:solidFill>
                <a:latin typeface="Aptos"/>
              </a:defRPr>
            </a:pPr>
            <a:r>
              <a:t>Have you ever tried Thai food?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977639"/>
            <a:ext cx="91440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AAE3D9"/>
                </a:solidFill>
                <a:latin typeface="Aptos"/>
              </a:defRPr>
            </a:pPr>
            <a:r>
              <a:rPr dirty="0"/>
              <a:t>Day 1  |  Elementary+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D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017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0E7D76"/>
                </a:solidFill>
                <a:latin typeface="Aptos"/>
              </a:defRPr>
            </a:pPr>
            <a:r>
              <a:t>DAY 1 • RESTAURANT + MEETING PEOPLE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68096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3100" b="1">
                <a:solidFill>
                  <a:srgbClr val="162737"/>
                </a:solidFill>
                <a:latin typeface="Aptos"/>
              </a:defRPr>
            </a:pPr>
            <a:r>
              <a:t>TODAY’S LEARNING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508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 b="0">
                <a:solidFill>
                  <a:srgbClr val="5A6970"/>
                </a:solidFill>
                <a:latin typeface="Aptos"/>
              </a:defRPr>
            </a:pPr>
            <a:r>
              <a:t>By the end of class, you can…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01384"/>
            <a:ext cx="10972800" cy="13716"/>
          </a:xfrm>
          <a:prstGeom prst="rect">
            <a:avLst/>
          </a:prstGeom>
          <a:solidFill>
            <a:srgbClr val="D2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6547104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1">
                <a:solidFill>
                  <a:srgbClr val="0E7D76"/>
                </a:solidFill>
                <a:latin typeface="Aptos"/>
              </a:defRPr>
            </a:pPr>
            <a:r>
              <a:t>MS ADELA’S CLASS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37960"/>
            <a:ext cx="914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5A6970"/>
                </a:solidFill>
                <a:latin typeface="Aptos"/>
              </a:defRPr>
            </a:pPr>
            <a:r>
              <a:rPr dirty="0"/>
              <a:t>02 / 1</a:t>
            </a:r>
            <a:r>
              <a:rPr lang="en-US" dirty="0"/>
              <a:t>0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3520440" cy="3108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2359152"/>
            <a:ext cx="30998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1">
                <a:solidFill>
                  <a:srgbClr val="0E7D76"/>
                </a:solidFill>
                <a:latin typeface="Aptos"/>
              </a:defRPr>
            </a:pPr>
            <a:r>
              <a:t>01  MEET PEOPLE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852928"/>
            <a:ext cx="309981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162737"/>
                </a:solidFill>
                <a:latin typeface="Aptos"/>
              </a:defRPr>
            </a:pPr>
            <a:r>
              <a:t>Greet someone, introduce yourself, and make small talk.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2194560"/>
            <a:ext cx="3520440" cy="3108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44568" y="2359152"/>
            <a:ext cx="30998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1">
                <a:solidFill>
                  <a:srgbClr val="0E7D76"/>
                </a:solidFill>
                <a:latin typeface="Aptos"/>
              </a:defRPr>
            </a:pPr>
            <a:r>
              <a:t>02  TALK ABOUT FOOD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852928"/>
            <a:ext cx="30998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162737"/>
                </a:solidFill>
                <a:latin typeface="Aptos"/>
              </a:defRPr>
            </a:pPr>
            <a:r>
              <a:rPr dirty="0"/>
              <a:t>Name </a:t>
            </a:r>
            <a:r>
              <a:rPr lang="en-US" dirty="0"/>
              <a:t>food</a:t>
            </a:r>
            <a:r>
              <a:rPr dirty="0"/>
              <a:t> and describe dishes you have tried.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1" y="2194560"/>
            <a:ext cx="3520440" cy="3108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38744" y="2359152"/>
            <a:ext cx="30998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1">
                <a:solidFill>
                  <a:srgbClr val="0E7D76"/>
                </a:solidFill>
                <a:latin typeface="Aptos"/>
              </a:defRPr>
            </a:pPr>
            <a:r>
              <a:t>03  AT A RESTAURANT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4" y="2852928"/>
            <a:ext cx="309981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162737"/>
                </a:solidFill>
                <a:latin typeface="Aptos"/>
              </a:defRPr>
            </a:pPr>
            <a:r>
              <a:t>Ask about food experiences and order politely.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D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017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0E7D76"/>
                </a:solidFill>
                <a:latin typeface="Aptos"/>
              </a:defRPr>
            </a:pPr>
            <a:r>
              <a:t>DAY 1 • RESTAURANT + MEETING PEOPLE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68096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3100" b="1">
                <a:solidFill>
                  <a:srgbClr val="162737"/>
                </a:solidFill>
                <a:latin typeface="Aptos"/>
              </a:defRPr>
            </a:pPr>
            <a:r>
              <a:t>WARM-UP: MEET YOUR FOOD BUDDY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508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 b="0">
                <a:solidFill>
                  <a:srgbClr val="5A6970"/>
                </a:solidFill>
                <a:latin typeface="Aptos"/>
              </a:defRPr>
            </a:pPr>
            <a:r>
              <a:t>Work with a partner. Ask and answer.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01384"/>
            <a:ext cx="10972800" cy="13716"/>
          </a:xfrm>
          <a:prstGeom prst="rect">
            <a:avLst/>
          </a:prstGeom>
          <a:solidFill>
            <a:srgbClr val="D2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6547104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1">
                <a:solidFill>
                  <a:srgbClr val="0E7D76"/>
                </a:solidFill>
                <a:latin typeface="Aptos"/>
              </a:defRPr>
            </a:pPr>
            <a:r>
              <a:t>MS ADELA’S CLASS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37960"/>
            <a:ext cx="914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5A6970"/>
                </a:solidFill>
                <a:latin typeface="Aptos"/>
              </a:defRPr>
            </a:pPr>
            <a:r>
              <a:rPr dirty="0"/>
              <a:t>03 / 1</a:t>
            </a:r>
            <a:r>
              <a:rPr lang="en-US" dirty="0"/>
              <a:t>0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5349240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2359152"/>
            <a:ext cx="49286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1">
                <a:solidFill>
                  <a:srgbClr val="0E7D76"/>
                </a:solidFill>
                <a:latin typeface="Aptos"/>
              </a:defRPr>
            </a:pPr>
            <a:r>
              <a:t>PERSON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852928"/>
            <a:ext cx="4928616" cy="2587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162737"/>
                </a:solidFill>
                <a:latin typeface="Aptos"/>
              </a:defRPr>
            </a:pPr>
            <a:r>
              <a:t>Hi! I’m ____. What’s your name?</a:t>
            </a:r>
          </a:p>
          <a:p>
            <a:pPr>
              <a:spcAft>
                <a:spcPts val="1100"/>
              </a:spcAft>
              <a:defRPr sz="1800" b="0">
                <a:solidFill>
                  <a:srgbClr val="162737"/>
                </a:solidFill>
                <a:latin typeface="Aptos"/>
              </a:defRPr>
            </a:pPr>
            <a:r>
              <a:t>Nice to meet you.</a:t>
            </a:r>
          </a:p>
          <a:p>
            <a:pPr>
              <a:spcAft>
                <a:spcPts val="1100"/>
              </a:spcAft>
              <a:defRPr sz="1800" b="0">
                <a:solidFill>
                  <a:srgbClr val="162737"/>
                </a:solidFill>
                <a:latin typeface="Aptos"/>
              </a:defRPr>
            </a:pPr>
            <a:r>
              <a:t>What’s your favorite food?</a:t>
            </a:r>
          </a:p>
          <a:p>
            <a:pPr>
              <a:spcAft>
                <a:spcPts val="1100"/>
              </a:spcAft>
              <a:defRPr sz="1800" b="0">
                <a:solidFill>
                  <a:srgbClr val="162737"/>
                </a:solidFill>
                <a:latin typeface="Aptos"/>
              </a:defRPr>
            </a:pPr>
            <a:r>
              <a:t>Do you like spicy food?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194560"/>
            <a:ext cx="5349240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2359152"/>
            <a:ext cx="49286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1">
                <a:solidFill>
                  <a:srgbClr val="0E7D76"/>
                </a:solidFill>
                <a:latin typeface="Aptos"/>
              </a:defRPr>
            </a:pPr>
            <a:r>
              <a:t>PERSON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852928"/>
            <a:ext cx="4928616" cy="2587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162737"/>
                </a:solidFill>
                <a:latin typeface="Aptos"/>
              </a:defRPr>
            </a:pPr>
            <a:r>
              <a:t>I’m ____. Nice to meet you, too!</a:t>
            </a:r>
          </a:p>
          <a:p>
            <a:pPr>
              <a:spcAft>
                <a:spcPts val="1100"/>
              </a:spcAft>
              <a:defRPr sz="1800" b="0">
                <a:solidFill>
                  <a:srgbClr val="162737"/>
                </a:solidFill>
                <a:latin typeface="Aptos"/>
              </a:defRPr>
            </a:pPr>
            <a:r>
              <a:t>My favorite food is ____.</a:t>
            </a:r>
          </a:p>
          <a:p>
            <a:pPr>
              <a:spcAft>
                <a:spcPts val="1100"/>
              </a:spcAft>
              <a:defRPr sz="1800" b="0">
                <a:solidFill>
                  <a:srgbClr val="162737"/>
                </a:solidFill>
                <a:latin typeface="Aptos"/>
              </a:defRPr>
            </a:pPr>
            <a:r>
              <a:t>Yes, I do. / No, I don’t.</a:t>
            </a:r>
          </a:p>
          <a:p>
            <a:pPr>
              <a:spcAft>
                <a:spcPts val="1100"/>
              </a:spcAft>
              <a:defRPr sz="1800" b="0">
                <a:solidFill>
                  <a:srgbClr val="162737"/>
                </a:solidFill>
                <a:latin typeface="Aptos"/>
              </a:defRPr>
            </a:pPr>
            <a:r>
              <a:t>How about you?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 b="1">
                <a:solidFill>
                  <a:srgbClr val="0E7D76"/>
                </a:solidFill>
                <a:latin typeface="Aptos"/>
              </a:defRPr>
            </a:pPr>
            <a:r>
              <a:t>CHALLENGE: Introduce your partner to the class.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D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017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0E7D76"/>
                </a:solidFill>
                <a:latin typeface="Aptos"/>
              </a:defRPr>
            </a:pPr>
            <a:r>
              <a:t>DAY 1 • RESTAURANT + MEETING PEOPLE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68096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3100" b="1">
                <a:solidFill>
                  <a:srgbClr val="162737"/>
                </a:solidFill>
                <a:latin typeface="Aptos"/>
              </a:defRPr>
            </a:pPr>
            <a:r>
              <a:t>VOCABULARY 1: WORLD CUISINES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508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 b="0">
                <a:solidFill>
                  <a:srgbClr val="5A6970"/>
                </a:solidFill>
                <a:latin typeface="Aptos"/>
              </a:defRPr>
            </a:pPr>
            <a:r>
              <a:t>Which cuisines have you tried?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01384"/>
            <a:ext cx="10972800" cy="13716"/>
          </a:xfrm>
          <a:prstGeom prst="rect">
            <a:avLst/>
          </a:prstGeom>
          <a:solidFill>
            <a:srgbClr val="D2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6547104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1">
                <a:solidFill>
                  <a:srgbClr val="0E7D76"/>
                </a:solidFill>
                <a:latin typeface="Aptos"/>
              </a:defRPr>
            </a:pPr>
            <a:r>
              <a:t>MS ADELA’S CLASS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37960"/>
            <a:ext cx="914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5A6970"/>
                </a:solidFill>
                <a:latin typeface="Aptos"/>
              </a:defRPr>
            </a:pPr>
            <a:r>
              <a:rPr dirty="0"/>
              <a:t>04 / 1</a:t>
            </a:r>
            <a:r>
              <a:rPr lang="en-US" dirty="0"/>
              <a:t>0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53035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2313432"/>
            <a:ext cx="4882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1">
                <a:solidFill>
                  <a:srgbClr val="0E7D76"/>
                </a:solidFill>
                <a:latin typeface="Aptos"/>
              </a:defRPr>
            </a:pPr>
            <a:r>
              <a:t>ASIAN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807208"/>
            <a:ext cx="4882896" cy="1343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162737"/>
                </a:solidFill>
                <a:latin typeface="Aptos"/>
              </a:defRPr>
            </a:pPr>
            <a:r>
              <a:rPr dirty="0"/>
              <a:t>Indonesian • Chinese • Thai</a:t>
            </a:r>
          </a:p>
          <a:p>
            <a:pPr>
              <a:spcAft>
                <a:spcPts val="1100"/>
              </a:spcAft>
              <a:defRPr sz="2100" b="0">
                <a:solidFill>
                  <a:srgbClr val="162737"/>
                </a:solidFill>
                <a:latin typeface="Aptos"/>
              </a:defRPr>
            </a:pPr>
            <a:r>
              <a:rPr dirty="0"/>
              <a:t>Japanese • Korean • Indian</a:t>
            </a:r>
          </a:p>
          <a:p>
            <a:pPr>
              <a:spcAft>
                <a:spcPts val="1100"/>
              </a:spcAft>
              <a:defRPr sz="2100" b="0">
                <a:solidFill>
                  <a:srgbClr val="162737"/>
                </a:solidFill>
                <a:latin typeface="Aptos"/>
              </a:defRPr>
            </a:pP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6126480" y="2148840"/>
            <a:ext cx="539496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36792" y="2313432"/>
            <a:ext cx="49743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1">
                <a:solidFill>
                  <a:srgbClr val="0E7D76"/>
                </a:solidFill>
                <a:latin typeface="Aptos"/>
              </a:defRPr>
            </a:pPr>
            <a:r>
              <a:t>OTHER REGIONS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2807208"/>
            <a:ext cx="4974336" cy="87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162737"/>
                </a:solidFill>
                <a:latin typeface="Aptos"/>
              </a:defRPr>
            </a:pPr>
            <a:r>
              <a:rPr dirty="0"/>
              <a:t>Italian • Mexican • Turkish</a:t>
            </a:r>
          </a:p>
          <a:p>
            <a:pPr>
              <a:spcAft>
                <a:spcPts val="1100"/>
              </a:spcAft>
              <a:defRPr sz="2100" b="0">
                <a:solidFill>
                  <a:srgbClr val="162737"/>
                </a:solidFill>
                <a:latin typeface="Aptos"/>
              </a:defRPr>
            </a:pPr>
            <a:r>
              <a:rPr dirty="0"/>
              <a:t>American • Brazilian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596128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 b="1">
                <a:solidFill>
                  <a:srgbClr val="0E7D76"/>
                </a:solidFill>
                <a:latin typeface="Aptos"/>
              </a:defRPr>
            </a:pPr>
            <a:r>
              <a:t>PAIR WORK  “Have you ever tried Korean food?”  “Yes, I have. I love bibimbap!”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D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017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0E7D76"/>
                </a:solidFill>
                <a:latin typeface="Aptos"/>
              </a:defRPr>
            </a:pPr>
            <a:r>
              <a:t>DAY 1 • RESTAURANT + MEETING PEOPLE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68096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3100" b="1">
                <a:solidFill>
                  <a:srgbClr val="162737"/>
                </a:solidFill>
                <a:latin typeface="Aptos"/>
              </a:defRPr>
            </a:pPr>
            <a:r>
              <a:t>VOCABULARY 2: AT THE RESTAURANT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508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 b="0">
                <a:solidFill>
                  <a:srgbClr val="5A6970"/>
                </a:solidFill>
                <a:latin typeface="Aptos"/>
              </a:defRPr>
            </a:pPr>
            <a:r>
              <a:t>Match the word to its meaning, then use it in a sentence.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01384"/>
            <a:ext cx="10972800" cy="13716"/>
          </a:xfrm>
          <a:prstGeom prst="rect">
            <a:avLst/>
          </a:prstGeom>
          <a:solidFill>
            <a:srgbClr val="D2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6547104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1">
                <a:solidFill>
                  <a:srgbClr val="0E7D76"/>
                </a:solidFill>
                <a:latin typeface="Aptos"/>
              </a:defRPr>
            </a:pPr>
            <a:r>
              <a:t>MS ADELA’S CLASS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37960"/>
            <a:ext cx="914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5A6970"/>
                </a:solidFill>
                <a:latin typeface="Aptos"/>
              </a:defRPr>
            </a:pPr>
            <a:r>
              <a:rPr dirty="0"/>
              <a:t>05 / 1</a:t>
            </a:r>
            <a:r>
              <a:rPr lang="en-US" dirty="0"/>
              <a:t>0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534924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2313432"/>
            <a:ext cx="49286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1">
                <a:solidFill>
                  <a:srgbClr val="0E7D76"/>
                </a:solidFill>
                <a:latin typeface="Aptos"/>
              </a:defRPr>
            </a:pPr>
            <a:r>
              <a:t>PEOPLE &amp; PLACES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807208"/>
            <a:ext cx="4928616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62737"/>
                </a:solidFill>
                <a:latin typeface="Aptos"/>
              </a:defRPr>
            </a:pPr>
            <a:r>
              <a:t>Waiter / server — serves customers</a:t>
            </a:r>
          </a:p>
          <a:p>
            <a:pPr>
              <a:spcAft>
                <a:spcPts val="1100"/>
              </a:spcAft>
              <a:defRPr sz="1900" b="0">
                <a:solidFill>
                  <a:srgbClr val="162737"/>
                </a:solidFill>
                <a:latin typeface="Aptos"/>
              </a:defRPr>
            </a:pPr>
            <a:r>
              <a:t>Customer — orders food</a:t>
            </a:r>
          </a:p>
          <a:p>
            <a:pPr>
              <a:spcAft>
                <a:spcPts val="1100"/>
              </a:spcAft>
              <a:defRPr sz="1900" b="0">
                <a:solidFill>
                  <a:srgbClr val="162737"/>
                </a:solidFill>
                <a:latin typeface="Aptos"/>
              </a:defRPr>
            </a:pPr>
            <a:r>
              <a:t>Menu — list of food and drinks</a:t>
            </a:r>
          </a:p>
          <a:p>
            <a:pPr>
              <a:spcAft>
                <a:spcPts val="1100"/>
              </a:spcAft>
              <a:defRPr sz="1900" b="0">
                <a:solidFill>
                  <a:srgbClr val="162737"/>
                </a:solidFill>
                <a:latin typeface="Aptos"/>
              </a:defRPr>
            </a:pPr>
            <a:r>
              <a:t>Reservation — booking a 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148840"/>
            <a:ext cx="534924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2313432"/>
            <a:ext cx="49286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1">
                <a:solidFill>
                  <a:srgbClr val="0E7D76"/>
                </a:solidFill>
                <a:latin typeface="Aptos"/>
              </a:defRPr>
            </a:pPr>
            <a:r>
              <a:t>FOOD &amp; TASTE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807208"/>
            <a:ext cx="4928616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62737"/>
                </a:solidFill>
                <a:latin typeface="Aptos"/>
              </a:defRPr>
            </a:pPr>
            <a:r>
              <a:t>Appetizer — food before the main dish</a:t>
            </a:r>
          </a:p>
          <a:p>
            <a:pPr>
              <a:spcAft>
                <a:spcPts val="1100"/>
              </a:spcAft>
              <a:defRPr sz="1900" b="0">
                <a:solidFill>
                  <a:srgbClr val="162737"/>
                </a:solidFill>
                <a:latin typeface="Aptos"/>
              </a:defRPr>
            </a:pPr>
            <a:r>
              <a:t>Main course — the main dish</a:t>
            </a:r>
          </a:p>
          <a:p>
            <a:pPr>
              <a:spcAft>
                <a:spcPts val="1100"/>
              </a:spcAft>
              <a:defRPr sz="1900" b="0">
                <a:solidFill>
                  <a:srgbClr val="162737"/>
                </a:solidFill>
                <a:latin typeface="Aptos"/>
              </a:defRPr>
            </a:pPr>
            <a:r>
              <a:t>Dessert — sweet food after a meal</a:t>
            </a:r>
          </a:p>
          <a:p>
            <a:pPr>
              <a:spcAft>
                <a:spcPts val="1100"/>
              </a:spcAft>
              <a:defRPr sz="1900" b="0">
                <a:solidFill>
                  <a:srgbClr val="162737"/>
                </a:solidFill>
                <a:latin typeface="Aptos"/>
              </a:defRPr>
            </a:pPr>
            <a:r>
              <a:t>Spicy / sweet / sour / savory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D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017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0E7D76"/>
                </a:solidFill>
                <a:latin typeface="Aptos"/>
              </a:defRPr>
            </a:pPr>
            <a:r>
              <a:t>DAY 1 • RESTAURANT + MEETING PEOPLE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68096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3100" b="1">
                <a:solidFill>
                  <a:srgbClr val="162737"/>
                </a:solidFill>
                <a:latin typeface="Aptos"/>
              </a:defRPr>
            </a:pPr>
            <a:r>
              <a:t>USEFUL EXPRESSIONS: MEETING PEOPLE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508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 b="0">
                <a:solidFill>
                  <a:srgbClr val="5A6970"/>
                </a:solidFill>
                <a:latin typeface="Aptos"/>
              </a:defRPr>
            </a:pPr>
            <a:r>
              <a:t>Practice both casual and polite expressions.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01384"/>
            <a:ext cx="10972800" cy="13716"/>
          </a:xfrm>
          <a:prstGeom prst="rect">
            <a:avLst/>
          </a:prstGeom>
          <a:solidFill>
            <a:srgbClr val="D2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6547104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1">
                <a:solidFill>
                  <a:srgbClr val="0E7D76"/>
                </a:solidFill>
                <a:latin typeface="Aptos"/>
              </a:defRPr>
            </a:pPr>
            <a:r>
              <a:t>MS ADELA’S CLASS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37960"/>
            <a:ext cx="914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5A6970"/>
                </a:solidFill>
                <a:latin typeface="Aptos"/>
              </a:defRPr>
            </a:pPr>
            <a:r>
              <a:rPr dirty="0"/>
              <a:t>06 / 1</a:t>
            </a:r>
            <a:r>
              <a:rPr lang="en-US" dirty="0"/>
              <a:t>0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5349240" cy="3566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2313432"/>
            <a:ext cx="49286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1">
                <a:solidFill>
                  <a:srgbClr val="0E7D76"/>
                </a:solidFill>
                <a:latin typeface="Aptos"/>
              </a:defRPr>
            </a:pPr>
            <a:r>
              <a:t>GREET &amp; INTRODUCE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807208"/>
            <a:ext cx="4928616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62737"/>
                </a:solidFill>
                <a:latin typeface="Aptos"/>
              </a:defRPr>
            </a:pPr>
            <a:r>
              <a:t>Hi! I’m Adela. What’s your name?</a:t>
            </a:r>
          </a:p>
          <a:p>
            <a:pPr>
              <a:spcAft>
                <a:spcPts val="1100"/>
              </a:spcAft>
              <a:defRPr sz="1900" b="0">
                <a:solidFill>
                  <a:srgbClr val="162737"/>
                </a:solidFill>
                <a:latin typeface="Aptos"/>
              </a:defRPr>
            </a:pPr>
            <a:r>
              <a:t>Nice to meet you!</a:t>
            </a:r>
          </a:p>
          <a:p>
            <a:pPr>
              <a:spcAft>
                <a:spcPts val="1100"/>
              </a:spcAft>
              <a:defRPr sz="1900" b="0">
                <a:solidFill>
                  <a:srgbClr val="162737"/>
                </a:solidFill>
                <a:latin typeface="Aptos"/>
              </a:defRPr>
            </a:pPr>
            <a:r>
              <a:t>This is my friend, Rina.</a:t>
            </a:r>
          </a:p>
          <a:p>
            <a:pPr>
              <a:spcAft>
                <a:spcPts val="1100"/>
              </a:spcAft>
              <a:defRPr sz="1900" b="0">
                <a:solidFill>
                  <a:srgbClr val="162737"/>
                </a:solidFill>
                <a:latin typeface="Aptos"/>
              </a:defRPr>
            </a:pPr>
            <a:r>
              <a:t>Have you been here before?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148840"/>
            <a:ext cx="5349240" cy="3566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2313432"/>
            <a:ext cx="49286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1">
                <a:solidFill>
                  <a:srgbClr val="0E7D76"/>
                </a:solidFill>
                <a:latin typeface="Aptos"/>
              </a:defRPr>
            </a:pPr>
            <a:r>
              <a:t>MAKE SMALL TALK &amp; SAY GOODBYE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807208"/>
            <a:ext cx="4928616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62737"/>
                </a:solidFill>
                <a:latin typeface="Aptos"/>
              </a:defRPr>
            </a:pPr>
            <a:r>
              <a:t>What kind of food do you like?</a:t>
            </a:r>
          </a:p>
          <a:p>
            <a:pPr>
              <a:spcAft>
                <a:spcPts val="1100"/>
              </a:spcAft>
              <a:defRPr sz="1900" b="0">
                <a:solidFill>
                  <a:srgbClr val="162737"/>
                </a:solidFill>
                <a:latin typeface="Aptos"/>
              </a:defRPr>
            </a:pPr>
            <a:r>
              <a:t>Is this your first time here?</a:t>
            </a:r>
          </a:p>
          <a:p>
            <a:pPr>
              <a:spcAft>
                <a:spcPts val="1100"/>
              </a:spcAft>
              <a:defRPr sz="1900" b="0">
                <a:solidFill>
                  <a:srgbClr val="162737"/>
                </a:solidFill>
                <a:latin typeface="Aptos"/>
              </a:defRPr>
            </a:pPr>
            <a:r>
              <a:t>That sounds delicious!</a:t>
            </a:r>
          </a:p>
          <a:p>
            <a:pPr>
              <a:spcAft>
                <a:spcPts val="1100"/>
              </a:spcAft>
              <a:defRPr sz="1900" b="0">
                <a:solidFill>
                  <a:srgbClr val="162737"/>
                </a:solidFill>
                <a:latin typeface="Aptos"/>
              </a:defRPr>
            </a:pPr>
            <a:r>
              <a:t>It was nice meeting you.</a:t>
            </a:r>
          </a:p>
          <a:p>
            <a:pPr>
              <a:spcAft>
                <a:spcPts val="1100"/>
              </a:spcAft>
              <a:defRPr sz="1900" b="0">
                <a:solidFill>
                  <a:srgbClr val="162737"/>
                </a:solidFill>
                <a:latin typeface="Aptos"/>
              </a:defRPr>
            </a:pPr>
            <a:r>
              <a:t>See you next time!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D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017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0E7D76"/>
                </a:solidFill>
                <a:latin typeface="Aptos"/>
              </a:defRPr>
            </a:pPr>
            <a:r>
              <a:t>DAY 1 • RESTAURANT + MEETING PEOPLE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68096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3100" b="1">
                <a:solidFill>
                  <a:srgbClr val="162737"/>
                </a:solidFill>
                <a:latin typeface="Aptos"/>
              </a:defRPr>
            </a:pPr>
            <a:r>
              <a:t>GRAMMAR: PRESENT PERFECT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508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 b="0">
                <a:solidFill>
                  <a:srgbClr val="5A6970"/>
                </a:solidFill>
                <a:latin typeface="Aptos"/>
              </a:defRPr>
            </a:pPr>
            <a:r>
              <a:t>Use have / has + past participle to talk about life experiences.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01384"/>
            <a:ext cx="10972800" cy="13716"/>
          </a:xfrm>
          <a:prstGeom prst="rect">
            <a:avLst/>
          </a:prstGeom>
          <a:solidFill>
            <a:srgbClr val="D2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6547104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1">
                <a:solidFill>
                  <a:srgbClr val="0E7D76"/>
                </a:solidFill>
                <a:latin typeface="Aptos"/>
              </a:defRPr>
            </a:pPr>
            <a:r>
              <a:t>MS ADELA’S CLASS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37960"/>
            <a:ext cx="914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5A6970"/>
                </a:solidFill>
                <a:latin typeface="Aptos"/>
              </a:defRPr>
            </a:pPr>
            <a:r>
              <a:rPr dirty="0"/>
              <a:t>0</a:t>
            </a:r>
            <a:r>
              <a:rPr lang="en-US" dirty="0"/>
              <a:t>7</a:t>
            </a:r>
            <a:r>
              <a:rPr dirty="0"/>
              <a:t> / 1</a:t>
            </a:r>
            <a:r>
              <a:rPr lang="en-US" dirty="0"/>
              <a:t>0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5349240" cy="3429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2313432"/>
            <a:ext cx="49286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1">
                <a:solidFill>
                  <a:srgbClr val="0E7D76"/>
                </a:solidFill>
                <a:latin typeface="Aptos"/>
              </a:defRPr>
            </a:pPr>
            <a:r>
              <a:t>ASKING ABOUT EXPERIENCE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807208"/>
            <a:ext cx="4928616" cy="2679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162737"/>
                </a:solidFill>
                <a:latin typeface="Aptos"/>
              </a:defRPr>
            </a:pPr>
            <a:r>
              <a:t>Have you ever tried sushi?</a:t>
            </a:r>
          </a:p>
          <a:p>
            <a:pPr>
              <a:spcAft>
                <a:spcPts val="1100"/>
              </a:spcAft>
              <a:defRPr sz="2000" b="0">
                <a:solidFill>
                  <a:srgbClr val="162737"/>
                </a:solidFill>
                <a:latin typeface="Aptos"/>
              </a:defRPr>
            </a:pPr>
            <a:r>
              <a:t>Have you ever been to a Thai restaurant?</a:t>
            </a:r>
          </a:p>
          <a:p>
            <a:pPr>
              <a:spcAft>
                <a:spcPts val="1100"/>
              </a:spcAft>
              <a:defRPr sz="2000" b="0">
                <a:solidFill>
                  <a:srgbClr val="162737"/>
                </a:solidFill>
                <a:latin typeface="Aptos"/>
              </a:defRPr>
            </a:pPr>
            <a:r>
              <a:t>What dishes have you tried?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148840"/>
            <a:ext cx="5349240" cy="3429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2313432"/>
            <a:ext cx="49286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1">
                <a:solidFill>
                  <a:srgbClr val="0E7D76"/>
                </a:solidFill>
                <a:latin typeface="Aptos"/>
              </a:defRPr>
            </a:pPr>
            <a:r>
              <a:t>DESCRIBING EXPERIENCE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807208"/>
            <a:ext cx="4928616" cy="2679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162737"/>
                </a:solidFill>
                <a:latin typeface="Aptos"/>
              </a:defRPr>
            </a:pPr>
            <a:r>
              <a:t>Yes, I have. I’ve tried sushi.</a:t>
            </a:r>
          </a:p>
          <a:p>
            <a:pPr>
              <a:spcAft>
                <a:spcPts val="1100"/>
              </a:spcAft>
              <a:defRPr sz="2000" b="0">
                <a:solidFill>
                  <a:srgbClr val="162737"/>
                </a:solidFill>
                <a:latin typeface="Aptos"/>
              </a:defRPr>
            </a:pPr>
            <a:r>
              <a:t>No, I haven’t. I’ve never tried it.</a:t>
            </a:r>
          </a:p>
          <a:p>
            <a:pPr>
              <a:spcAft>
                <a:spcPts val="1100"/>
              </a:spcAft>
              <a:defRPr sz="2000" b="0">
                <a:solidFill>
                  <a:srgbClr val="162737"/>
                </a:solidFill>
                <a:latin typeface="Aptos"/>
              </a:defRPr>
            </a:pPr>
            <a:r>
              <a:t>She has eaten ramen before.</a:t>
            </a:r>
          </a:p>
          <a:p>
            <a:pPr>
              <a:spcAft>
                <a:spcPts val="1100"/>
              </a:spcAft>
              <a:defRPr sz="2000" b="0">
                <a:solidFill>
                  <a:srgbClr val="162737"/>
                </a:solidFill>
                <a:latin typeface="Aptos"/>
              </a:defRPr>
            </a:pPr>
            <a:r>
              <a:t>He hasn’t been there.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824728"/>
            <a:ext cx="10881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 b="1">
                <a:solidFill>
                  <a:srgbClr val="0E7D76"/>
                </a:solidFill>
                <a:latin typeface="Aptos"/>
              </a:defRPr>
            </a:pPr>
            <a:r>
              <a:t>REMEMBER  Have/has + tried / eaten / been  •  ever = at any time  •  never = not at any 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D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017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0E7D76"/>
                </a:solidFill>
                <a:latin typeface="Aptos"/>
              </a:defRPr>
            </a:pPr>
            <a:r>
              <a:t>DAY 1 • RESTAURANT + MEETING PEOPLE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68096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3100" b="1">
                <a:solidFill>
                  <a:srgbClr val="162737"/>
                </a:solidFill>
                <a:latin typeface="Aptos"/>
              </a:defRPr>
            </a:pPr>
            <a:r>
              <a:t>GRAMMAR PRACTICE: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508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 b="0">
                <a:solidFill>
                  <a:srgbClr val="5A6970"/>
                </a:solidFill>
                <a:latin typeface="Aptos"/>
              </a:defRPr>
            </a:pPr>
            <a:r>
              <a:t>Choose the correct word and ask your partner.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01384"/>
            <a:ext cx="10972800" cy="13716"/>
          </a:xfrm>
          <a:prstGeom prst="rect">
            <a:avLst/>
          </a:prstGeom>
          <a:solidFill>
            <a:srgbClr val="D2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6547104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1">
                <a:solidFill>
                  <a:srgbClr val="0E7D76"/>
                </a:solidFill>
                <a:latin typeface="Aptos"/>
              </a:defRPr>
            </a:pPr>
            <a:r>
              <a:t>MS ADELA’S CLASS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37960"/>
            <a:ext cx="914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5A6970"/>
                </a:solidFill>
                <a:latin typeface="Aptos"/>
              </a:defRPr>
            </a:pPr>
            <a:r>
              <a:rPr lang="en-US" dirty="0"/>
              <a:t>8</a:t>
            </a:r>
            <a:r>
              <a:rPr dirty="0"/>
              <a:t> / 1</a:t>
            </a:r>
            <a:r>
              <a:rPr lang="en-US" dirty="0"/>
              <a:t>0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6492240" cy="3566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2313432"/>
            <a:ext cx="60716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1">
                <a:solidFill>
                  <a:srgbClr val="0E7D76"/>
                </a:solidFill>
                <a:latin typeface="Aptos"/>
              </a:defRPr>
            </a:pPr>
            <a:r>
              <a:t>FILL IN THE BLANKS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807208"/>
            <a:ext cx="6071616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62737"/>
                </a:solidFill>
                <a:latin typeface="Aptos"/>
              </a:defRPr>
            </a:pPr>
            <a:r>
              <a:t>1. Have you ever ____ (eat/eaten) ramen?</a:t>
            </a:r>
          </a:p>
          <a:p>
            <a:pPr>
              <a:spcAft>
                <a:spcPts val="1100"/>
              </a:spcAft>
              <a:defRPr sz="1900" b="0">
                <a:solidFill>
                  <a:srgbClr val="162737"/>
                </a:solidFill>
                <a:latin typeface="Aptos"/>
              </a:defRPr>
            </a:pPr>
            <a:r>
              <a:t>2. She ____ (has/have) tried Mexican food.</a:t>
            </a:r>
          </a:p>
          <a:p>
            <a:pPr>
              <a:spcAft>
                <a:spcPts val="1100"/>
              </a:spcAft>
              <a:defRPr sz="1900" b="0">
                <a:solidFill>
                  <a:srgbClr val="162737"/>
                </a:solidFill>
                <a:latin typeface="Aptos"/>
              </a:defRPr>
            </a:pPr>
            <a:r>
              <a:t>3. I have ____ (never/ever) been there.</a:t>
            </a:r>
          </a:p>
          <a:p>
            <a:pPr>
              <a:spcAft>
                <a:spcPts val="1100"/>
              </a:spcAft>
              <a:defRPr sz="1900" b="0">
                <a:solidFill>
                  <a:srgbClr val="162737"/>
                </a:solidFill>
                <a:latin typeface="Aptos"/>
              </a:defRPr>
            </a:pPr>
            <a:r>
              <a:t>4. ____ (Have/Has) he tried sushi?</a:t>
            </a:r>
          </a:p>
          <a:p>
            <a:pPr>
              <a:spcAft>
                <a:spcPts val="1100"/>
              </a:spcAft>
              <a:defRPr sz="1900" b="0">
                <a:solidFill>
                  <a:srgbClr val="162737"/>
                </a:solidFill>
                <a:latin typeface="Aptos"/>
              </a:defRPr>
            </a:pPr>
            <a:r>
              <a:t>5. No, I ____ (haven’t/hasn’t).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33488" y="2148840"/>
            <a:ext cx="4187952" cy="3566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43800" y="2313432"/>
            <a:ext cx="3767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1">
                <a:solidFill>
                  <a:srgbClr val="0E7D76"/>
                </a:solidFill>
                <a:latin typeface="Aptos"/>
              </a:defRPr>
            </a:pPr>
            <a:r>
              <a:t>FOLLOW-UP QUESTIONS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2807208"/>
            <a:ext cx="3767328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62737"/>
                </a:solidFill>
                <a:latin typeface="Aptos"/>
              </a:defRPr>
            </a:pPr>
            <a:r>
              <a:t>When did you try it?</a:t>
            </a:r>
          </a:p>
          <a:p>
            <a:pPr>
              <a:spcAft>
                <a:spcPts val="1100"/>
              </a:spcAft>
              <a:defRPr sz="1900" b="0">
                <a:solidFill>
                  <a:srgbClr val="162737"/>
                </a:solidFill>
                <a:latin typeface="Aptos"/>
              </a:defRPr>
            </a:pPr>
            <a:r>
              <a:t>Where did you eat it?</a:t>
            </a:r>
          </a:p>
          <a:p>
            <a:pPr>
              <a:spcAft>
                <a:spcPts val="1100"/>
              </a:spcAft>
              <a:defRPr sz="1900" b="0">
                <a:solidFill>
                  <a:srgbClr val="162737"/>
                </a:solidFill>
                <a:latin typeface="Aptos"/>
              </a:defRPr>
            </a:pPr>
            <a:r>
              <a:t>Did you like it?</a:t>
            </a:r>
          </a:p>
          <a:p>
            <a:pPr>
              <a:spcAft>
                <a:spcPts val="1100"/>
              </a:spcAft>
              <a:defRPr sz="1900" b="0">
                <a:solidFill>
                  <a:srgbClr val="162737"/>
                </a:solidFill>
                <a:latin typeface="Aptos"/>
              </a:defRPr>
            </a:pPr>
            <a:r>
              <a:t>How did it taste?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D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017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0E7D76"/>
                </a:solidFill>
                <a:latin typeface="Aptos"/>
              </a:defRPr>
            </a:pPr>
            <a:r>
              <a:t>DAY 1 • RESTAURANT + MEETING PEOPLE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68096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3100" b="1">
                <a:solidFill>
                  <a:srgbClr val="162737"/>
                </a:solidFill>
                <a:latin typeface="Aptos"/>
              </a:defRPr>
            </a:pPr>
            <a:r>
              <a:t>AT A RESTAURANT: POLITE ORDERING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508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 b="0">
                <a:solidFill>
                  <a:srgbClr val="5A6970"/>
                </a:solidFill>
                <a:latin typeface="Aptos"/>
              </a:defRPr>
            </a:pPr>
            <a:r>
              <a:t>Useful expressions for customers and servers.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01384"/>
            <a:ext cx="10972800" cy="13716"/>
          </a:xfrm>
          <a:prstGeom prst="rect">
            <a:avLst/>
          </a:prstGeom>
          <a:solidFill>
            <a:srgbClr val="D2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6547104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1">
                <a:solidFill>
                  <a:srgbClr val="0E7D76"/>
                </a:solidFill>
                <a:latin typeface="Aptos"/>
              </a:defRPr>
            </a:pPr>
            <a:r>
              <a:t>MS ADELA’S CLASS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37960"/>
            <a:ext cx="914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5A6970"/>
                </a:solidFill>
                <a:latin typeface="Aptos"/>
              </a:defRPr>
            </a:pPr>
            <a:r>
              <a:rPr lang="en-US" dirty="0"/>
              <a:t>9</a:t>
            </a:r>
            <a:r>
              <a:rPr dirty="0"/>
              <a:t> / 1</a:t>
            </a:r>
            <a:r>
              <a:rPr lang="en-US" dirty="0"/>
              <a:t>0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5349240" cy="3566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2313432"/>
            <a:ext cx="49286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1">
                <a:solidFill>
                  <a:srgbClr val="0E7D76"/>
                </a:solidFill>
                <a:latin typeface="Aptos"/>
              </a:defRPr>
            </a:pPr>
            <a:r>
              <a:t>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807208"/>
            <a:ext cx="4928616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62737"/>
                </a:solidFill>
                <a:latin typeface="Aptos"/>
              </a:defRPr>
            </a:pPr>
            <a:r>
              <a:t>Welcome! Do you have a reservation?</a:t>
            </a:r>
          </a:p>
          <a:p>
            <a:pPr>
              <a:spcAft>
                <a:spcPts val="1100"/>
              </a:spcAft>
              <a:defRPr sz="1900" b="0">
                <a:solidFill>
                  <a:srgbClr val="162737"/>
                </a:solidFill>
                <a:latin typeface="Aptos"/>
              </a:defRPr>
            </a:pPr>
            <a:r>
              <a:t>Are you ready to order?</a:t>
            </a:r>
          </a:p>
          <a:p>
            <a:pPr>
              <a:spcAft>
                <a:spcPts val="1100"/>
              </a:spcAft>
              <a:defRPr sz="1900" b="0">
                <a:solidFill>
                  <a:srgbClr val="162737"/>
                </a:solidFill>
                <a:latin typeface="Aptos"/>
              </a:defRPr>
            </a:pPr>
            <a:r>
              <a:t>What would you like to drink?</a:t>
            </a:r>
          </a:p>
          <a:p>
            <a:pPr>
              <a:spcAft>
                <a:spcPts val="1100"/>
              </a:spcAft>
              <a:defRPr sz="1900" b="0">
                <a:solidFill>
                  <a:srgbClr val="162737"/>
                </a:solidFill>
                <a:latin typeface="Aptos"/>
              </a:defRPr>
            </a:pPr>
            <a:r>
              <a:t>Would you like anything else?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148840"/>
            <a:ext cx="5349240" cy="3566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2313432"/>
            <a:ext cx="49286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1">
                <a:solidFill>
                  <a:srgbClr val="0E7D76"/>
                </a:solidFill>
                <a:latin typeface="Aptos"/>
              </a:defRPr>
            </a:pPr>
            <a:r>
              <a:t>CUSTOMER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807208"/>
            <a:ext cx="4928616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62737"/>
                </a:solidFill>
                <a:latin typeface="Aptos"/>
              </a:defRPr>
            </a:pPr>
            <a:r>
              <a:t>A table for two, please.</a:t>
            </a:r>
          </a:p>
          <a:p>
            <a:pPr>
              <a:spcAft>
                <a:spcPts val="1100"/>
              </a:spcAft>
              <a:defRPr sz="1900" b="0">
                <a:solidFill>
                  <a:srgbClr val="162737"/>
                </a:solidFill>
                <a:latin typeface="Aptos"/>
              </a:defRPr>
            </a:pPr>
            <a:r>
              <a:t>Could I see the menu, please?</a:t>
            </a:r>
          </a:p>
          <a:p>
            <a:pPr>
              <a:spcAft>
                <a:spcPts val="1100"/>
              </a:spcAft>
              <a:defRPr sz="1900" b="0">
                <a:solidFill>
                  <a:srgbClr val="162737"/>
                </a:solidFill>
                <a:latin typeface="Aptos"/>
              </a:defRPr>
            </a:pPr>
            <a:r>
              <a:t>I’d like chicken noodles, please.</a:t>
            </a:r>
          </a:p>
          <a:p>
            <a:pPr>
              <a:spcAft>
                <a:spcPts val="1100"/>
              </a:spcAft>
              <a:defRPr sz="1900" b="0">
                <a:solidFill>
                  <a:srgbClr val="162737"/>
                </a:solidFill>
                <a:latin typeface="Aptos"/>
              </a:defRPr>
            </a:pPr>
            <a:r>
              <a:t>Could we have the bill, please?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58521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 b="1">
                <a:solidFill>
                  <a:srgbClr val="0E7D76"/>
                </a:solidFill>
                <a:latin typeface="Aptos"/>
              </a:defRPr>
            </a:pPr>
            <a:r>
              <a:t>GRAMMAR TIP  “I’d like…” and “Could I…?” sound more polite than “I want…”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D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017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0E7D76"/>
                </a:solidFill>
                <a:latin typeface="Aptos"/>
              </a:defRPr>
            </a:pPr>
            <a:r>
              <a:t>DAY 1 • RESTAURANT + MEETING PEOPLE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68096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3100" b="1">
                <a:solidFill>
                  <a:srgbClr val="162737"/>
                </a:solidFill>
                <a:latin typeface="Aptos"/>
              </a:defRPr>
            </a:pPr>
            <a:r>
              <a:t>Q&amp;A: LET’S TALK!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508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 b="0">
                <a:solidFill>
                  <a:srgbClr val="5A6970"/>
                </a:solidFill>
                <a:latin typeface="Aptos"/>
              </a:defRPr>
            </a:pPr>
            <a:r>
              <a:t>Answer in complete sentences. Ask your partner one follow-up question.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01384"/>
            <a:ext cx="10972800" cy="13716"/>
          </a:xfrm>
          <a:prstGeom prst="rect">
            <a:avLst/>
          </a:prstGeom>
          <a:solidFill>
            <a:srgbClr val="D2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6547104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1">
                <a:solidFill>
                  <a:srgbClr val="0E7D76"/>
                </a:solidFill>
                <a:latin typeface="Aptos"/>
              </a:defRPr>
            </a:pPr>
            <a:r>
              <a:t>MS ADELA’S CLASS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37960"/>
            <a:ext cx="914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5A6970"/>
                </a:solidFill>
                <a:latin typeface="Aptos"/>
              </a:defRPr>
            </a:pPr>
            <a:r>
              <a:rPr dirty="0"/>
              <a:t>1</a:t>
            </a:r>
            <a:r>
              <a:rPr lang="en-US" dirty="0"/>
              <a:t>0</a:t>
            </a:r>
            <a:r>
              <a:rPr dirty="0"/>
              <a:t> / 1</a:t>
            </a:r>
            <a:r>
              <a:rPr lang="en-US" dirty="0"/>
              <a:t>0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5349240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2313432"/>
            <a:ext cx="49286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1">
                <a:solidFill>
                  <a:srgbClr val="0E7D76"/>
                </a:solidFill>
                <a:latin typeface="Aptos"/>
              </a:defRPr>
            </a:pPr>
            <a:r>
              <a:t>FOOD EXPERIENCES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807208"/>
            <a:ext cx="4928616" cy="3044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162737"/>
                </a:solidFill>
                <a:latin typeface="Aptos"/>
              </a:defRPr>
            </a:pPr>
            <a:r>
              <a:t>1. Have you ever tried food from another country?</a:t>
            </a:r>
          </a:p>
          <a:p>
            <a:pPr>
              <a:spcAft>
                <a:spcPts val="1100"/>
              </a:spcAft>
              <a:defRPr sz="1800" b="0">
                <a:solidFill>
                  <a:srgbClr val="162737"/>
                </a:solidFill>
                <a:latin typeface="Aptos"/>
              </a:defRPr>
            </a:pPr>
            <a:r>
              <a:t>2. What is the most delicious dish you have eaten?</a:t>
            </a:r>
          </a:p>
          <a:p>
            <a:pPr>
              <a:spcAft>
                <a:spcPts val="1100"/>
              </a:spcAft>
              <a:defRPr sz="1800" b="0">
                <a:solidFill>
                  <a:srgbClr val="162737"/>
                </a:solidFill>
                <a:latin typeface="Aptos"/>
              </a:defRPr>
            </a:pPr>
            <a:r>
              <a:t>3. Have you ever eaten something very spicy?</a:t>
            </a:r>
          </a:p>
          <a:p>
            <a:pPr>
              <a:spcAft>
                <a:spcPts val="1100"/>
              </a:spcAft>
              <a:defRPr sz="1800" b="0">
                <a:solidFill>
                  <a:srgbClr val="162737"/>
                </a:solidFill>
                <a:latin typeface="Aptos"/>
              </a:defRPr>
            </a:pPr>
            <a:r>
              <a:t>4. Which cuisine would you like to try?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148840"/>
            <a:ext cx="5349240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2313432"/>
            <a:ext cx="49286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1">
                <a:solidFill>
                  <a:srgbClr val="0E7D76"/>
                </a:solidFill>
                <a:latin typeface="Aptos"/>
              </a:defRPr>
            </a:pPr>
            <a:r>
              <a:t>MEETING PEOPLE &amp; RESTAURANTS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807208"/>
            <a:ext cx="4928616" cy="3044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162737"/>
                </a:solidFill>
                <a:latin typeface="Aptos"/>
              </a:defRPr>
            </a:pPr>
            <a:r>
              <a:t>5. What do you say when meeting someone new?</a:t>
            </a:r>
          </a:p>
          <a:p>
            <a:pPr>
              <a:spcAft>
                <a:spcPts val="1100"/>
              </a:spcAft>
              <a:defRPr sz="1800" b="0">
                <a:solidFill>
                  <a:srgbClr val="162737"/>
                </a:solidFill>
                <a:latin typeface="Aptos"/>
              </a:defRPr>
            </a:pPr>
            <a:r>
              <a:t>6. How do you introduce your friend?</a:t>
            </a:r>
          </a:p>
          <a:p>
            <a:pPr>
              <a:spcAft>
                <a:spcPts val="1100"/>
              </a:spcAft>
              <a:defRPr sz="1800" b="0">
                <a:solidFill>
                  <a:srgbClr val="162737"/>
                </a:solidFill>
                <a:latin typeface="Aptos"/>
              </a:defRPr>
            </a:pPr>
            <a:r>
              <a:t>7. How do you order food politely?</a:t>
            </a:r>
          </a:p>
          <a:p>
            <a:pPr>
              <a:spcAft>
                <a:spcPts val="1100"/>
              </a:spcAft>
              <a:defRPr sz="1800" b="0">
                <a:solidFill>
                  <a:srgbClr val="162737"/>
                </a:solidFill>
                <a:latin typeface="Aptos"/>
              </a:defRPr>
            </a:pPr>
            <a:r>
              <a:t>8. What would you recommend to a visitor?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937</Words>
  <Application>Microsoft Office PowerPoint</Application>
  <PresentationFormat>Widescreen</PresentationFormat>
  <Paragraphs>140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Adela Ananda Putri</cp:lastModifiedBy>
  <cp:revision>2</cp:revision>
  <dcterms:created xsi:type="dcterms:W3CDTF">2013-01-27T09:14:16Z</dcterms:created>
  <dcterms:modified xsi:type="dcterms:W3CDTF">2026-09-27T14:35:20Z</dcterms:modified>
  <cp:category/>
</cp:coreProperties>
</file>
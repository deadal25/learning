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mbria" panose="02040503050406030204" pitchFamily="18" charset="0"/>
      <p:regular r:id="rId13"/>
      <p:bold r:id="rId14"/>
      <p:italic r:id="rId15"/>
      <p:boldItalic r:id="rId16"/>
    </p:embeddedFont>
    <p:embeddedFont>
      <p:font typeface="Cambria Bold" panose="02040803050406030204" pitchFamily="18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1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38215"/>
            <a:ext cx="18288000" cy="3761566"/>
            <a:chOff x="0" y="0"/>
            <a:chExt cx="4816593" cy="99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90700"/>
            </a:xfrm>
            <a:custGeom>
              <a:avLst/>
              <a:gdLst/>
              <a:ahLst/>
              <a:cxnLst/>
              <a:rect l="l" t="t" r="r" b="b"/>
              <a:pathLst>
                <a:path w="4816592" h="990700">
                  <a:moveTo>
                    <a:pt x="0" y="0"/>
                  </a:moveTo>
                  <a:lnTo>
                    <a:pt x="4816592" y="0"/>
                  </a:lnTo>
                  <a:lnTo>
                    <a:pt x="4816592" y="990700"/>
                  </a:lnTo>
                  <a:lnTo>
                    <a:pt x="0" y="990700"/>
                  </a:ln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1047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189785" y="5561598"/>
            <a:ext cx="4952166" cy="4114800"/>
          </a:xfrm>
          <a:custGeom>
            <a:avLst/>
            <a:gdLst/>
            <a:ahLst/>
            <a:cxnLst/>
            <a:rect l="l" t="t" r="r" b="b"/>
            <a:pathLst>
              <a:path w="4952166" h="4114800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585725" y="5561598"/>
            <a:ext cx="5588000" cy="4114800"/>
          </a:xfrm>
          <a:custGeom>
            <a:avLst/>
            <a:gdLst/>
            <a:ahLst/>
            <a:cxnLst/>
            <a:rect l="l" t="t" r="r" b="b"/>
            <a:pathLst>
              <a:path w="5588000" h="4114800">
                <a:moveTo>
                  <a:pt x="5588000" y="0"/>
                </a:moveTo>
                <a:lnTo>
                  <a:pt x="0" y="0"/>
                </a:lnTo>
                <a:lnTo>
                  <a:pt x="0" y="4114800"/>
                </a:lnTo>
                <a:lnTo>
                  <a:pt x="5588000" y="4114800"/>
                </a:lnTo>
                <a:lnTo>
                  <a:pt x="55880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011585" y="6689095"/>
            <a:ext cx="6264830" cy="3098243"/>
          </a:xfrm>
          <a:custGeom>
            <a:avLst/>
            <a:gdLst/>
            <a:ahLst/>
            <a:cxnLst/>
            <a:rect l="l" t="t" r="r" b="b"/>
            <a:pathLst>
              <a:path w="6264830" h="3098243">
                <a:moveTo>
                  <a:pt x="0" y="0"/>
                </a:moveTo>
                <a:lnTo>
                  <a:pt x="6264830" y="0"/>
                </a:lnTo>
                <a:lnTo>
                  <a:pt x="6264830" y="3098243"/>
                </a:lnTo>
                <a:lnTo>
                  <a:pt x="0" y="30982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0" y="1827077"/>
            <a:ext cx="18288000" cy="207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90"/>
              </a:lnSpc>
              <a:spcBef>
                <a:spcPct val="0"/>
              </a:spcBef>
            </a:pPr>
            <a:r>
              <a:rPr lang="en-US" sz="12064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ACTIVITY PLAN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4631" y="3641758"/>
            <a:ext cx="15042696" cy="772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8"/>
              </a:lnSpc>
            </a:pPr>
            <a:r>
              <a:rPr lang="en-US" sz="447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Pengembangan Aplikasi MAP-IN Talent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AD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33883"/>
            <a:chOff x="0" y="0"/>
            <a:chExt cx="4816593" cy="509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09335"/>
            </a:xfrm>
            <a:custGeom>
              <a:avLst/>
              <a:gdLst/>
              <a:ahLst/>
              <a:cxnLst/>
              <a:rect l="l" t="t" r="r" b="b"/>
              <a:pathLst>
                <a:path w="4816592" h="509335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13603" y="111125"/>
            <a:ext cx="10020696" cy="173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LATAR BELAKANG &amp; TUJUAN APLIKASI</a:t>
            </a:r>
          </a:p>
        </p:txBody>
      </p:sp>
      <p:sp>
        <p:nvSpPr>
          <p:cNvPr id="6" name="Freeform 6"/>
          <p:cNvSpPr/>
          <p:nvPr/>
        </p:nvSpPr>
        <p:spPr>
          <a:xfrm>
            <a:off x="610060" y="2425756"/>
            <a:ext cx="7254181" cy="7267395"/>
          </a:xfrm>
          <a:custGeom>
            <a:avLst/>
            <a:gdLst/>
            <a:ahLst/>
            <a:cxnLst/>
            <a:rect l="l" t="t" r="r" b="b"/>
            <a:pathLst>
              <a:path w="7254181" h="7267395">
                <a:moveTo>
                  <a:pt x="0" y="0"/>
                </a:moveTo>
                <a:lnTo>
                  <a:pt x="7254182" y="0"/>
                </a:lnTo>
                <a:lnTo>
                  <a:pt x="7254182" y="7267394"/>
                </a:lnTo>
                <a:lnTo>
                  <a:pt x="0" y="72673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88023" y="2496200"/>
            <a:ext cx="6698257" cy="126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9"/>
              </a:lnSpc>
              <a:spcBef>
                <a:spcPct val="0"/>
              </a:spcBef>
            </a:pPr>
            <a:r>
              <a:rPr lang="en-US" sz="3578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Mengapa aplikasi talent management ini dibangun?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59814" y="1938252"/>
            <a:ext cx="5021550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Latar belakang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59814" y="5124682"/>
            <a:ext cx="5510087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Tujuan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75289" y="5839057"/>
            <a:ext cx="9258267" cy="197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Membangun aplikasi website yang menyatukan profil individu, riwayat karir, talent snapshot, rencana karir, suksesi, gap kompetensi, IDP, review tahunan, dan pelatihan/sertifikasi dalam 9 tab.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75289" y="2671445"/>
            <a:ext cx="9258267" cy="247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Data talenta karyawan seperti profil, riwayat karir, penilaian potensi, suksesi, dan rencana pengembangan perlu dikelola secara terpusat dan mengacu pada standar yang sama.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Aplikasi website ini menjadi wadah tunggal bagi HR dan manajemen untuk memantau dan mengembangkan talenta.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259764" y="1532111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659814" y="7911062"/>
            <a:ext cx="7694654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Standar acuan yang dianalisis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33968" y="8552413"/>
            <a:ext cx="4970455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Katalog Kompetensi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Format POTASS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489550" y="8552413"/>
            <a:ext cx="376975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16 HAV Box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IDP 70-20-10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414927"/>
            <a:ext cx="18288000" cy="872073"/>
            <a:chOff x="0" y="0"/>
            <a:chExt cx="4816593" cy="2296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29682"/>
            </a:xfrm>
            <a:custGeom>
              <a:avLst/>
              <a:gdLst/>
              <a:ahLst/>
              <a:cxnLst/>
              <a:rect l="l" t="t" r="r" b="b"/>
              <a:pathLst>
                <a:path w="4816592" h="229682">
                  <a:moveTo>
                    <a:pt x="0" y="0"/>
                  </a:moveTo>
                  <a:lnTo>
                    <a:pt x="4816592" y="0"/>
                  </a:lnTo>
                  <a:lnTo>
                    <a:pt x="4816592" y="229682"/>
                  </a:lnTo>
                  <a:lnTo>
                    <a:pt x="0" y="229682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286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1" name="TextBox 101"/>
          <p:cNvSpPr txBox="1"/>
          <p:nvPr/>
        </p:nvSpPr>
        <p:spPr>
          <a:xfrm>
            <a:off x="313603" y="190500"/>
            <a:ext cx="11000000" cy="1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4500" b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TIMELINE 14 AKTIVITAS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314000" y="1570000"/>
            <a:ext cx="13816000" cy="401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2400" b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Oktober – Januari, per minggu (W1 – W4)</a:t>
            </a:r>
          </a:p>
        </p:txBody>
      </p:sp>
      <p:sp>
        <p:nvSpPr>
          <p:cNvPr id="103" name="Shape 103"/>
          <p:cNvSpPr/>
          <p:nvPr/>
        </p:nvSpPr>
        <p:spPr>
          <a:xfrm>
            <a:off x="314000" y="2097520"/>
            <a:ext cx="17671920" cy="31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4"/>
          <p:cNvSpPr/>
          <p:nvPr/>
        </p:nvSpPr>
        <p:spPr>
          <a:xfrm>
            <a:off x="276320" y="3202800"/>
            <a:ext cx="18011040" cy="444624"/>
          </a:xfrm>
          <a:prstGeom prst="rect">
            <a:avLst/>
          </a:prstGeom>
          <a:solidFill>
            <a:srgbClr val="F6F1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5"/>
          <p:cNvSpPr/>
          <p:nvPr/>
        </p:nvSpPr>
        <p:spPr>
          <a:xfrm>
            <a:off x="276320" y="4092048"/>
            <a:ext cx="18011040" cy="444624"/>
          </a:xfrm>
          <a:prstGeom prst="rect">
            <a:avLst/>
          </a:prstGeom>
          <a:solidFill>
            <a:srgbClr val="F6F1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6"/>
          <p:cNvSpPr/>
          <p:nvPr/>
        </p:nvSpPr>
        <p:spPr>
          <a:xfrm>
            <a:off x="276320" y="4981296"/>
            <a:ext cx="18011040" cy="444624"/>
          </a:xfrm>
          <a:prstGeom prst="rect">
            <a:avLst/>
          </a:prstGeom>
          <a:solidFill>
            <a:srgbClr val="F6F1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7"/>
          <p:cNvSpPr/>
          <p:nvPr/>
        </p:nvSpPr>
        <p:spPr>
          <a:xfrm>
            <a:off x="276320" y="5870544"/>
            <a:ext cx="18011040" cy="444624"/>
          </a:xfrm>
          <a:prstGeom prst="rect">
            <a:avLst/>
          </a:prstGeom>
          <a:solidFill>
            <a:srgbClr val="F6F1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8"/>
          <p:cNvSpPr/>
          <p:nvPr/>
        </p:nvSpPr>
        <p:spPr>
          <a:xfrm>
            <a:off x="276320" y="6759792"/>
            <a:ext cx="18011040" cy="444624"/>
          </a:xfrm>
          <a:prstGeom prst="rect">
            <a:avLst/>
          </a:prstGeom>
          <a:solidFill>
            <a:srgbClr val="F6F1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9"/>
          <p:cNvSpPr/>
          <p:nvPr/>
        </p:nvSpPr>
        <p:spPr>
          <a:xfrm>
            <a:off x="276320" y="7649040"/>
            <a:ext cx="18011040" cy="444624"/>
          </a:xfrm>
          <a:prstGeom prst="rect">
            <a:avLst/>
          </a:prstGeom>
          <a:solidFill>
            <a:srgbClr val="F6F1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10"/>
          <p:cNvSpPr/>
          <p:nvPr/>
        </p:nvSpPr>
        <p:spPr>
          <a:xfrm>
            <a:off x="276320" y="8538288"/>
            <a:ext cx="18011040" cy="444624"/>
          </a:xfrm>
          <a:prstGeom prst="rect">
            <a:avLst/>
          </a:prstGeom>
          <a:solidFill>
            <a:srgbClr val="F6F1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11"/>
          <p:cNvSpPr/>
          <p:nvPr/>
        </p:nvSpPr>
        <p:spPr>
          <a:xfrm>
            <a:off x="6644240" y="2323600"/>
            <a:ext cx="2858656" cy="452160"/>
          </a:xfrm>
          <a:prstGeom prst="rect">
            <a:avLst/>
          </a:prstGeom>
          <a:solidFill>
            <a:srgbClr val="1A25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Box 112"/>
          <p:cNvSpPr txBox="1"/>
          <p:nvPr/>
        </p:nvSpPr>
        <p:spPr>
          <a:xfrm>
            <a:off x="6644240" y="2323600"/>
            <a:ext cx="2858656" cy="452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2000" b="1">
                <a:solidFill>
                  <a:srgbClr val="EDE5DE"/>
                </a:solidFill>
                <a:latin typeface="Cambria"/>
                <a:ea typeface="Cambria"/>
                <a:cs typeface="Cambria"/>
              </a:rPr>
              <a:t>Okt</a:t>
            </a:r>
          </a:p>
        </p:txBody>
      </p:sp>
      <p:sp>
        <p:nvSpPr>
          <p:cNvPr id="113" name="Shape 113"/>
          <p:cNvSpPr/>
          <p:nvPr/>
        </p:nvSpPr>
        <p:spPr>
          <a:xfrm>
            <a:off x="9528016" y="2323600"/>
            <a:ext cx="2858656" cy="452160"/>
          </a:xfrm>
          <a:prstGeom prst="rect">
            <a:avLst/>
          </a:prstGeom>
          <a:solidFill>
            <a:srgbClr val="1A25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Box 114"/>
          <p:cNvSpPr txBox="1"/>
          <p:nvPr/>
        </p:nvSpPr>
        <p:spPr>
          <a:xfrm>
            <a:off x="9528016" y="2323600"/>
            <a:ext cx="2858656" cy="452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2000" b="1">
                <a:solidFill>
                  <a:srgbClr val="EDE5DE"/>
                </a:solidFill>
                <a:latin typeface="Cambria"/>
                <a:ea typeface="Cambria"/>
                <a:cs typeface="Cambria"/>
              </a:rPr>
              <a:t>Nov</a:t>
            </a:r>
          </a:p>
        </p:txBody>
      </p:sp>
      <p:sp>
        <p:nvSpPr>
          <p:cNvPr id="115" name="Shape 115"/>
          <p:cNvSpPr/>
          <p:nvPr/>
        </p:nvSpPr>
        <p:spPr>
          <a:xfrm>
            <a:off x="12411792" y="2323600"/>
            <a:ext cx="2858656" cy="452160"/>
          </a:xfrm>
          <a:prstGeom prst="rect">
            <a:avLst/>
          </a:prstGeom>
          <a:solidFill>
            <a:srgbClr val="1A25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Box 116"/>
          <p:cNvSpPr txBox="1"/>
          <p:nvPr/>
        </p:nvSpPr>
        <p:spPr>
          <a:xfrm>
            <a:off x="12411792" y="2323600"/>
            <a:ext cx="2858656" cy="452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2000" b="1">
                <a:solidFill>
                  <a:srgbClr val="EDE5DE"/>
                </a:solidFill>
                <a:latin typeface="Cambria"/>
                <a:ea typeface="Cambria"/>
                <a:cs typeface="Cambria"/>
              </a:rPr>
              <a:t>Des</a:t>
            </a:r>
          </a:p>
        </p:txBody>
      </p:sp>
      <p:sp>
        <p:nvSpPr>
          <p:cNvPr id="117" name="Shape 117"/>
          <p:cNvSpPr/>
          <p:nvPr/>
        </p:nvSpPr>
        <p:spPr>
          <a:xfrm>
            <a:off x="15295568" y="2323600"/>
            <a:ext cx="2858656" cy="452160"/>
          </a:xfrm>
          <a:prstGeom prst="rect">
            <a:avLst/>
          </a:prstGeom>
          <a:solidFill>
            <a:srgbClr val="1A25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Box 118"/>
          <p:cNvSpPr txBox="1"/>
          <p:nvPr/>
        </p:nvSpPr>
        <p:spPr>
          <a:xfrm>
            <a:off x="15295568" y="2323600"/>
            <a:ext cx="2858656" cy="452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2000" b="1">
                <a:solidFill>
                  <a:srgbClr val="EDE5DE"/>
                </a:solidFill>
                <a:latin typeface="Cambria"/>
                <a:ea typeface="Cambria"/>
                <a:cs typeface="Cambria"/>
              </a:rPr>
              <a:t>Jan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6644240" y="2813440"/>
            <a:ext cx="720944" cy="276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4A4A4A"/>
                </a:solidFill>
                <a:latin typeface="Cambria"/>
                <a:ea typeface="Cambria"/>
                <a:cs typeface="Cambria"/>
              </a:rPr>
              <a:t>W1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7365184" y="2813440"/>
            <a:ext cx="720944" cy="276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4A4A4A"/>
                </a:solidFill>
                <a:latin typeface="Cambria"/>
                <a:ea typeface="Cambria"/>
                <a:cs typeface="Cambria"/>
              </a:rPr>
              <a:t>W2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086128" y="2813440"/>
            <a:ext cx="720944" cy="276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4A4A4A"/>
                </a:solidFill>
                <a:latin typeface="Cambria"/>
                <a:ea typeface="Cambria"/>
                <a:cs typeface="Cambria"/>
              </a:rPr>
              <a:t>W3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8807072" y="2813440"/>
            <a:ext cx="720944" cy="276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4A4A4A"/>
                </a:solidFill>
                <a:latin typeface="Cambria"/>
                <a:ea typeface="Cambria"/>
                <a:cs typeface="Cambria"/>
              </a:rPr>
              <a:t>W4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9528016" y="2813440"/>
            <a:ext cx="720944" cy="276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4A4A4A"/>
                </a:solidFill>
                <a:latin typeface="Cambria"/>
                <a:ea typeface="Cambria"/>
                <a:cs typeface="Cambria"/>
              </a:rPr>
              <a:t>W1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0248960" y="2813440"/>
            <a:ext cx="720944" cy="276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4A4A4A"/>
                </a:solidFill>
                <a:latin typeface="Cambria"/>
                <a:ea typeface="Cambria"/>
                <a:cs typeface="Cambria"/>
              </a:rPr>
              <a:t>W2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10969904" y="2813440"/>
            <a:ext cx="720944" cy="276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4A4A4A"/>
                </a:solidFill>
                <a:latin typeface="Cambria"/>
                <a:ea typeface="Cambria"/>
                <a:cs typeface="Cambria"/>
              </a:rPr>
              <a:t>W3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11690848" y="2813440"/>
            <a:ext cx="720944" cy="276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4A4A4A"/>
                </a:solidFill>
                <a:latin typeface="Cambria"/>
                <a:ea typeface="Cambria"/>
                <a:cs typeface="Cambria"/>
              </a:rPr>
              <a:t>W4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12411792" y="2813440"/>
            <a:ext cx="720944" cy="276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4A4A4A"/>
                </a:solidFill>
                <a:latin typeface="Cambria"/>
                <a:ea typeface="Cambria"/>
                <a:cs typeface="Cambria"/>
              </a:rPr>
              <a:t>W1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13132736" y="2813440"/>
            <a:ext cx="720944" cy="276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4A4A4A"/>
                </a:solidFill>
                <a:latin typeface="Cambria"/>
                <a:ea typeface="Cambria"/>
                <a:cs typeface="Cambria"/>
              </a:rPr>
              <a:t>W2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13853680" y="2813440"/>
            <a:ext cx="720944" cy="276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4A4A4A"/>
                </a:solidFill>
                <a:latin typeface="Cambria"/>
                <a:ea typeface="Cambria"/>
                <a:cs typeface="Cambria"/>
              </a:rPr>
              <a:t>W3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14574624" y="2813440"/>
            <a:ext cx="720944" cy="276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4A4A4A"/>
                </a:solidFill>
                <a:latin typeface="Cambria"/>
                <a:ea typeface="Cambria"/>
                <a:cs typeface="Cambria"/>
              </a:rPr>
              <a:t>W4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15295568" y="2813440"/>
            <a:ext cx="720944" cy="276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4A4A4A"/>
                </a:solidFill>
                <a:latin typeface="Cambria"/>
                <a:ea typeface="Cambria"/>
                <a:cs typeface="Cambria"/>
              </a:rPr>
              <a:t>W1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16016512" y="2813440"/>
            <a:ext cx="720944" cy="276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4A4A4A"/>
                </a:solidFill>
                <a:latin typeface="Cambria"/>
                <a:ea typeface="Cambria"/>
                <a:cs typeface="Cambria"/>
              </a:rPr>
              <a:t>W2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16737456" y="2813440"/>
            <a:ext cx="720944" cy="276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4A4A4A"/>
                </a:solidFill>
                <a:latin typeface="Cambria"/>
                <a:ea typeface="Cambria"/>
                <a:cs typeface="Cambria"/>
              </a:rPr>
              <a:t>W3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17458400" y="2813440"/>
            <a:ext cx="720944" cy="276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4A4A4A"/>
                </a:solidFill>
                <a:latin typeface="Cambria"/>
                <a:ea typeface="Cambria"/>
                <a:cs typeface="Cambria"/>
              </a:rPr>
              <a:t>W4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439600" y="3202800"/>
            <a:ext cx="6154400" cy="444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900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1.  Pengumpulan data (wawancara &amp; dokumen)</a:t>
            </a:r>
          </a:p>
        </p:txBody>
      </p:sp>
      <p:sp>
        <p:nvSpPr>
          <p:cNvPr id="136" name="Bar 136"/>
          <p:cNvSpPr/>
          <p:nvPr/>
        </p:nvSpPr>
        <p:spPr>
          <a:xfrm>
            <a:off x="6669360" y="3259320"/>
            <a:ext cx="1391648" cy="331584"/>
          </a:xfrm>
          <a:prstGeom prst="roundRect">
            <a:avLst>
              <a:gd name="adj" fmla="val 22000"/>
            </a:avLst>
          </a:prstGeom>
          <a:solidFill>
            <a:srgbClr val="8B5E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Box 137"/>
          <p:cNvSpPr txBox="1"/>
          <p:nvPr/>
        </p:nvSpPr>
        <p:spPr>
          <a:xfrm>
            <a:off x="439600" y="3647424"/>
            <a:ext cx="6154400" cy="444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900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2.  Penyusunan dokumen (blueprint / SRS)</a:t>
            </a:r>
          </a:p>
        </p:txBody>
      </p:sp>
      <p:sp>
        <p:nvSpPr>
          <p:cNvPr id="138" name="Bar 138"/>
          <p:cNvSpPr/>
          <p:nvPr/>
        </p:nvSpPr>
        <p:spPr>
          <a:xfrm>
            <a:off x="7390304" y="3703944"/>
            <a:ext cx="2112592" cy="331584"/>
          </a:xfrm>
          <a:prstGeom prst="roundRect">
            <a:avLst>
              <a:gd name="adj" fmla="val 22000"/>
            </a:avLst>
          </a:prstGeom>
          <a:solidFill>
            <a:srgbClr val="E6001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Box 139"/>
          <p:cNvSpPr txBox="1"/>
          <p:nvPr/>
        </p:nvSpPr>
        <p:spPr>
          <a:xfrm>
            <a:off x="439600" y="4092048"/>
            <a:ext cx="6154400" cy="444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900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3.  Design database</a:t>
            </a:r>
          </a:p>
        </p:txBody>
      </p:sp>
      <p:sp>
        <p:nvSpPr>
          <p:cNvPr id="140" name="Bar 140"/>
          <p:cNvSpPr/>
          <p:nvPr/>
        </p:nvSpPr>
        <p:spPr>
          <a:xfrm>
            <a:off x="8832192" y="4148568"/>
            <a:ext cx="1391648" cy="331584"/>
          </a:xfrm>
          <a:prstGeom prst="roundRect">
            <a:avLst>
              <a:gd name="adj" fmla="val 22000"/>
            </a:avLst>
          </a:prstGeom>
          <a:solidFill>
            <a:srgbClr val="E6001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Box 141"/>
          <p:cNvSpPr txBox="1"/>
          <p:nvPr/>
        </p:nvSpPr>
        <p:spPr>
          <a:xfrm>
            <a:off x="439600" y="4536672"/>
            <a:ext cx="6154400" cy="444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900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4.  Perancangan halaman website</a:t>
            </a:r>
          </a:p>
        </p:txBody>
      </p:sp>
      <p:sp>
        <p:nvSpPr>
          <p:cNvPr id="142" name="Bar 142"/>
          <p:cNvSpPr/>
          <p:nvPr/>
        </p:nvSpPr>
        <p:spPr>
          <a:xfrm>
            <a:off x="9553136" y="4593192"/>
            <a:ext cx="2112592" cy="331584"/>
          </a:xfrm>
          <a:prstGeom prst="roundRect">
            <a:avLst>
              <a:gd name="adj" fmla="val 22000"/>
            </a:avLst>
          </a:prstGeom>
          <a:solidFill>
            <a:srgbClr val="E6001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Box 143"/>
          <p:cNvSpPr txBox="1"/>
          <p:nvPr/>
        </p:nvSpPr>
        <p:spPr>
          <a:xfrm>
            <a:off x="439600" y="4981296"/>
            <a:ext cx="6154400" cy="444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900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5.  Development Tahap 1 (Hal 1–3)</a:t>
            </a:r>
          </a:p>
        </p:txBody>
      </p:sp>
      <p:sp>
        <p:nvSpPr>
          <p:cNvPr id="144" name="Bar 144"/>
          <p:cNvSpPr/>
          <p:nvPr/>
        </p:nvSpPr>
        <p:spPr>
          <a:xfrm>
            <a:off x="10995024" y="5037816"/>
            <a:ext cx="3554480" cy="331584"/>
          </a:xfrm>
          <a:prstGeom prst="roundRect">
            <a:avLst>
              <a:gd name="adj" fmla="val 22000"/>
            </a:avLst>
          </a:prstGeom>
          <a:solidFill>
            <a:srgbClr val="1A25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Box 145"/>
          <p:cNvSpPr txBox="1"/>
          <p:nvPr/>
        </p:nvSpPr>
        <p:spPr>
          <a:xfrm>
            <a:off x="439600" y="5425920"/>
            <a:ext cx="6154400" cy="444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900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6.  Development Tahap 2 (Hal 4–6)</a:t>
            </a:r>
          </a:p>
        </p:txBody>
      </p:sp>
      <p:sp>
        <p:nvSpPr>
          <p:cNvPr id="146" name="Bar 146"/>
          <p:cNvSpPr/>
          <p:nvPr/>
        </p:nvSpPr>
        <p:spPr>
          <a:xfrm>
            <a:off x="10995024" y="5482440"/>
            <a:ext cx="4275424" cy="331584"/>
          </a:xfrm>
          <a:prstGeom prst="roundRect">
            <a:avLst>
              <a:gd name="adj" fmla="val 22000"/>
            </a:avLst>
          </a:prstGeom>
          <a:solidFill>
            <a:srgbClr val="1A25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Box 147"/>
          <p:cNvSpPr txBox="1"/>
          <p:nvPr/>
        </p:nvSpPr>
        <p:spPr>
          <a:xfrm>
            <a:off x="439600" y="5870544"/>
            <a:ext cx="6154400" cy="444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900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7.  Development Tahap 3 (Hal 7–9)</a:t>
            </a:r>
          </a:p>
        </p:txBody>
      </p:sp>
      <p:sp>
        <p:nvSpPr>
          <p:cNvPr id="148" name="Bar 148"/>
          <p:cNvSpPr/>
          <p:nvPr/>
        </p:nvSpPr>
        <p:spPr>
          <a:xfrm>
            <a:off x="10995024" y="5927064"/>
            <a:ext cx="4275424" cy="331584"/>
          </a:xfrm>
          <a:prstGeom prst="roundRect">
            <a:avLst>
              <a:gd name="adj" fmla="val 22000"/>
            </a:avLst>
          </a:prstGeom>
          <a:solidFill>
            <a:srgbClr val="1A25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Box 149"/>
          <p:cNvSpPr txBox="1"/>
          <p:nvPr/>
        </p:nvSpPr>
        <p:spPr>
          <a:xfrm>
            <a:off x="439600" y="6315168"/>
            <a:ext cx="6154400" cy="444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900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8.  Development Tahap 4 (Fitur Tambahan)</a:t>
            </a:r>
          </a:p>
        </p:txBody>
      </p:sp>
      <p:sp>
        <p:nvSpPr>
          <p:cNvPr id="150" name="Bar 150"/>
          <p:cNvSpPr/>
          <p:nvPr/>
        </p:nvSpPr>
        <p:spPr>
          <a:xfrm>
            <a:off x="10995024" y="6371688"/>
            <a:ext cx="4996368" cy="331584"/>
          </a:xfrm>
          <a:prstGeom prst="roundRect">
            <a:avLst>
              <a:gd name="adj" fmla="val 22000"/>
            </a:avLst>
          </a:prstGeom>
          <a:solidFill>
            <a:srgbClr val="1A25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Box 151"/>
          <p:cNvSpPr txBox="1"/>
          <p:nvPr/>
        </p:nvSpPr>
        <p:spPr>
          <a:xfrm>
            <a:off x="439600" y="6759792"/>
            <a:ext cx="6154400" cy="444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900" b="0" dirty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9.  Testi</a:t>
            </a:r>
            <a:r>
              <a:rPr lang="en-US" sz="1900" dirty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ng</a:t>
            </a:r>
            <a:r>
              <a:rPr lang="en-US" sz="1900" b="0" dirty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 aplikasi</a:t>
            </a:r>
          </a:p>
        </p:txBody>
      </p:sp>
      <p:sp>
        <p:nvSpPr>
          <p:cNvPr id="152" name="Bar 152"/>
          <p:cNvSpPr/>
          <p:nvPr/>
        </p:nvSpPr>
        <p:spPr>
          <a:xfrm>
            <a:off x="14599744" y="6816312"/>
            <a:ext cx="2112592" cy="331584"/>
          </a:xfrm>
          <a:prstGeom prst="roundRect">
            <a:avLst>
              <a:gd name="adj" fmla="val 22000"/>
            </a:avLst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Box 153"/>
          <p:cNvSpPr txBox="1"/>
          <p:nvPr/>
        </p:nvSpPr>
        <p:spPr>
          <a:xfrm>
            <a:off x="439600" y="7204416"/>
            <a:ext cx="6154400" cy="444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900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10.  Implementasi di localhost</a:t>
            </a:r>
          </a:p>
        </p:txBody>
      </p:sp>
      <p:sp>
        <p:nvSpPr>
          <p:cNvPr id="154" name="Bar 154"/>
          <p:cNvSpPr/>
          <p:nvPr/>
        </p:nvSpPr>
        <p:spPr>
          <a:xfrm>
            <a:off x="15320688" y="7260936"/>
            <a:ext cx="2112592" cy="331584"/>
          </a:xfrm>
          <a:prstGeom prst="roundRect">
            <a:avLst>
              <a:gd name="adj" fmla="val 22000"/>
            </a:avLst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TextBox 155"/>
          <p:cNvSpPr txBox="1"/>
          <p:nvPr/>
        </p:nvSpPr>
        <p:spPr>
          <a:xfrm>
            <a:off x="439600" y="7649040"/>
            <a:ext cx="6154400" cy="444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900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11.  Monitoring aplikasi</a:t>
            </a:r>
          </a:p>
        </p:txBody>
      </p:sp>
      <p:sp>
        <p:nvSpPr>
          <p:cNvPr id="156" name="Bar 156"/>
          <p:cNvSpPr/>
          <p:nvPr/>
        </p:nvSpPr>
        <p:spPr>
          <a:xfrm>
            <a:off x="16041632" y="7705560"/>
            <a:ext cx="2112592" cy="331584"/>
          </a:xfrm>
          <a:prstGeom prst="roundRect">
            <a:avLst>
              <a:gd name="adj" fmla="val 22000"/>
            </a:avLst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Box 157"/>
          <p:cNvSpPr txBox="1"/>
          <p:nvPr/>
        </p:nvSpPr>
        <p:spPr>
          <a:xfrm>
            <a:off x="439600" y="8093664"/>
            <a:ext cx="6154400" cy="444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900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12.  Deployment (siap digunakan)</a:t>
            </a:r>
          </a:p>
        </p:txBody>
      </p:sp>
      <p:sp>
        <p:nvSpPr>
          <p:cNvPr id="158" name="Bar 158"/>
          <p:cNvSpPr/>
          <p:nvPr/>
        </p:nvSpPr>
        <p:spPr>
          <a:xfrm>
            <a:off x="16762576" y="8150184"/>
            <a:ext cx="1391648" cy="331584"/>
          </a:xfrm>
          <a:prstGeom prst="roundRect">
            <a:avLst>
              <a:gd name="adj" fmla="val 22000"/>
            </a:avLst>
          </a:prstGeom>
          <a:solidFill>
            <a:srgbClr val="9E00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TextBox 159"/>
          <p:cNvSpPr txBox="1"/>
          <p:nvPr/>
        </p:nvSpPr>
        <p:spPr>
          <a:xfrm>
            <a:off x="439600" y="8538288"/>
            <a:ext cx="6154400" cy="444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900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13.  Dokumentasi penggunaan website</a:t>
            </a:r>
          </a:p>
        </p:txBody>
      </p:sp>
      <p:sp>
        <p:nvSpPr>
          <p:cNvPr id="160" name="Bar 160"/>
          <p:cNvSpPr/>
          <p:nvPr/>
        </p:nvSpPr>
        <p:spPr>
          <a:xfrm>
            <a:off x="16762576" y="8594808"/>
            <a:ext cx="1391648" cy="331584"/>
          </a:xfrm>
          <a:prstGeom prst="roundRect">
            <a:avLst>
              <a:gd name="adj" fmla="val 22000"/>
            </a:avLst>
          </a:prstGeom>
          <a:solidFill>
            <a:srgbClr val="9E00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Box 161"/>
          <p:cNvSpPr txBox="1"/>
          <p:nvPr/>
        </p:nvSpPr>
        <p:spPr>
          <a:xfrm>
            <a:off x="439600" y="8982912"/>
            <a:ext cx="6154400" cy="444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900" b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14.  Projek siap digunakan (training)</a:t>
            </a:r>
          </a:p>
        </p:txBody>
      </p:sp>
      <p:sp>
        <p:nvSpPr>
          <p:cNvPr id="162" name="Bar 162"/>
          <p:cNvSpPr/>
          <p:nvPr/>
        </p:nvSpPr>
        <p:spPr>
          <a:xfrm>
            <a:off x="17483520" y="9039432"/>
            <a:ext cx="670704" cy="331584"/>
          </a:xfrm>
          <a:prstGeom prst="roundRect">
            <a:avLst>
              <a:gd name="adj" fmla="val 22000"/>
            </a:avLst>
          </a:prstGeom>
          <a:solidFill>
            <a:srgbClr val="9E00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Legend 163"/>
          <p:cNvSpPr/>
          <p:nvPr/>
        </p:nvSpPr>
        <p:spPr>
          <a:xfrm>
            <a:off x="288880" y="9821920"/>
            <a:ext cx="401920" cy="276320"/>
          </a:xfrm>
          <a:prstGeom prst="roundRect">
            <a:avLst>
              <a:gd name="adj" fmla="val 22000"/>
            </a:avLst>
          </a:prstGeom>
          <a:solidFill>
            <a:srgbClr val="8B5E3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TextBox 164"/>
          <p:cNvSpPr txBox="1"/>
          <p:nvPr/>
        </p:nvSpPr>
        <p:spPr>
          <a:xfrm>
            <a:off x="854080" y="9771680"/>
            <a:ext cx="2449200" cy="376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700" b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Pengumpulan Data</a:t>
            </a:r>
          </a:p>
        </p:txBody>
      </p:sp>
      <p:sp>
        <p:nvSpPr>
          <p:cNvPr id="165" name="Legend 165"/>
          <p:cNvSpPr/>
          <p:nvPr/>
        </p:nvSpPr>
        <p:spPr>
          <a:xfrm>
            <a:off x="3353520" y="9821920"/>
            <a:ext cx="401920" cy="276320"/>
          </a:xfrm>
          <a:prstGeom prst="roundRect">
            <a:avLst>
              <a:gd name="adj" fmla="val 22000"/>
            </a:avLst>
          </a:prstGeom>
          <a:solidFill>
            <a:srgbClr val="E6001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TextBox 166"/>
          <p:cNvSpPr txBox="1"/>
          <p:nvPr/>
        </p:nvSpPr>
        <p:spPr>
          <a:xfrm>
            <a:off x="3918720" y="9771680"/>
            <a:ext cx="2449200" cy="376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700" b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Perancangan</a:t>
            </a:r>
          </a:p>
        </p:txBody>
      </p:sp>
      <p:sp>
        <p:nvSpPr>
          <p:cNvPr id="167" name="Legend 167"/>
          <p:cNvSpPr/>
          <p:nvPr/>
        </p:nvSpPr>
        <p:spPr>
          <a:xfrm>
            <a:off x="6418160" y="9821920"/>
            <a:ext cx="401920" cy="276320"/>
          </a:xfrm>
          <a:prstGeom prst="roundRect">
            <a:avLst>
              <a:gd name="adj" fmla="val 22000"/>
            </a:avLst>
          </a:prstGeom>
          <a:solidFill>
            <a:srgbClr val="1A25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TextBox 168"/>
          <p:cNvSpPr txBox="1"/>
          <p:nvPr/>
        </p:nvSpPr>
        <p:spPr>
          <a:xfrm>
            <a:off x="6983360" y="9771680"/>
            <a:ext cx="2449200" cy="376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700" b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Development</a:t>
            </a:r>
          </a:p>
        </p:txBody>
      </p:sp>
      <p:sp>
        <p:nvSpPr>
          <p:cNvPr id="169" name="Legend 169"/>
          <p:cNvSpPr/>
          <p:nvPr/>
        </p:nvSpPr>
        <p:spPr>
          <a:xfrm>
            <a:off x="9482800" y="9821920"/>
            <a:ext cx="401920" cy="276320"/>
          </a:xfrm>
          <a:prstGeom prst="roundRect">
            <a:avLst>
              <a:gd name="adj" fmla="val 22000"/>
            </a:avLst>
          </a:prstGeom>
          <a:solidFill>
            <a:srgbClr val="F2A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TextBox 170"/>
          <p:cNvSpPr txBox="1"/>
          <p:nvPr/>
        </p:nvSpPr>
        <p:spPr>
          <a:xfrm>
            <a:off x="10048000" y="9771680"/>
            <a:ext cx="2449200" cy="376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700" b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Testing</a:t>
            </a:r>
          </a:p>
        </p:txBody>
      </p:sp>
      <p:sp>
        <p:nvSpPr>
          <p:cNvPr id="171" name="Legend 171"/>
          <p:cNvSpPr/>
          <p:nvPr/>
        </p:nvSpPr>
        <p:spPr>
          <a:xfrm>
            <a:off x="12547440" y="9821920"/>
            <a:ext cx="401920" cy="276320"/>
          </a:xfrm>
          <a:prstGeom prst="roundRect">
            <a:avLst>
              <a:gd name="adj" fmla="val 22000"/>
            </a:avLst>
          </a:prstGeom>
          <a:solidFill>
            <a:srgbClr val="9E001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TextBox 172"/>
          <p:cNvSpPr txBox="1"/>
          <p:nvPr/>
        </p:nvSpPr>
        <p:spPr>
          <a:xfrm>
            <a:off x="13112640" y="9771680"/>
            <a:ext cx="2449200" cy="376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1700" b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AD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33883"/>
            <a:chOff x="0" y="0"/>
            <a:chExt cx="4816593" cy="509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09335"/>
            </a:xfrm>
            <a:custGeom>
              <a:avLst/>
              <a:gdLst/>
              <a:ahLst/>
              <a:cxnLst/>
              <a:rect l="l" t="t" r="r" b="b"/>
              <a:pathLst>
                <a:path w="4816592" h="509335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8726278" y="1771650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62538" y="2920010"/>
            <a:ext cx="7287894" cy="5429481"/>
          </a:xfrm>
          <a:custGeom>
            <a:avLst/>
            <a:gdLst/>
            <a:ahLst/>
            <a:cxnLst/>
            <a:rect l="l" t="t" r="r" b="b"/>
            <a:pathLst>
              <a:path w="7287894" h="5429481">
                <a:moveTo>
                  <a:pt x="0" y="0"/>
                </a:moveTo>
                <a:lnTo>
                  <a:pt x="7287895" y="0"/>
                </a:lnTo>
                <a:lnTo>
                  <a:pt x="7287895" y="5429481"/>
                </a:lnTo>
                <a:lnTo>
                  <a:pt x="0" y="54294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723357" y="2757326"/>
            <a:ext cx="3070191" cy="2993436"/>
          </a:xfrm>
          <a:custGeom>
            <a:avLst/>
            <a:gdLst/>
            <a:ahLst/>
            <a:cxnLst/>
            <a:rect l="l" t="t" r="r" b="b"/>
            <a:pathLst>
              <a:path w="3070191" h="2993436">
                <a:moveTo>
                  <a:pt x="0" y="0"/>
                </a:moveTo>
                <a:lnTo>
                  <a:pt x="3070191" y="0"/>
                </a:lnTo>
                <a:lnTo>
                  <a:pt x="3070191" y="2993436"/>
                </a:lnTo>
                <a:lnTo>
                  <a:pt x="0" y="299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964403" y="6729986"/>
            <a:ext cx="2877865" cy="3094478"/>
          </a:xfrm>
          <a:custGeom>
            <a:avLst/>
            <a:gdLst/>
            <a:ahLst/>
            <a:cxnLst/>
            <a:rect l="l" t="t" r="r" b="b"/>
            <a:pathLst>
              <a:path w="2877865" h="3094478">
                <a:moveTo>
                  <a:pt x="0" y="0"/>
                </a:moveTo>
                <a:lnTo>
                  <a:pt x="2877865" y="0"/>
                </a:lnTo>
                <a:lnTo>
                  <a:pt x="2877865" y="3094478"/>
                </a:lnTo>
                <a:lnTo>
                  <a:pt x="0" y="30944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13603" y="190500"/>
            <a:ext cx="7272677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AKTIVITAS 1. PENGUMPULAN DATA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2538" y="8512175"/>
            <a:ext cx="7033549" cy="142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Minimal 3x sesi wawancara serta dokumen standar dikumpulkan dan dianalisis.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162015" y="2223926"/>
            <a:ext cx="6253865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Wawancara dengan Stakeholder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046957" y="6022557"/>
            <a:ext cx="5510087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Kelengkapan Dokumen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62352" y="6829425"/>
            <a:ext cx="376975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Katalog Kompetensi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Format POTASS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04357" y="7813675"/>
            <a:ext cx="376975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16 HAV Box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IDP 70-20-10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184272" y="1133475"/>
            <a:ext cx="3423474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(Okt W1 - Okt W2)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13603" y="2177060"/>
            <a:ext cx="841596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1. Wawancara dan Pengumpulan Dokumen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630668" y="3900326"/>
            <a:ext cx="1316558" cy="1028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  <a:spcBef>
                <a:spcPct val="0"/>
              </a:spcBef>
            </a:pPr>
            <a:r>
              <a:rPr lang="en-US" sz="5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04357" y="8728075"/>
            <a:ext cx="3769750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Dokumen Lainnya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AD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33883"/>
            <a:chOff x="0" y="0"/>
            <a:chExt cx="4816593" cy="509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09335"/>
            </a:xfrm>
            <a:custGeom>
              <a:avLst/>
              <a:gdLst/>
              <a:ahLst/>
              <a:cxnLst/>
              <a:rect l="l" t="t" r="r" b="b"/>
              <a:pathLst>
                <a:path w="4816592" h="509335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5789858" y="1771650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15595" y="3277465"/>
            <a:ext cx="3828435" cy="3828435"/>
          </a:xfrm>
          <a:custGeom>
            <a:avLst/>
            <a:gdLst/>
            <a:ahLst/>
            <a:cxnLst/>
            <a:rect l="l" t="t" r="r" b="b"/>
            <a:pathLst>
              <a:path w="3828435" h="3828435">
                <a:moveTo>
                  <a:pt x="0" y="0"/>
                </a:moveTo>
                <a:lnTo>
                  <a:pt x="3828435" y="0"/>
                </a:lnTo>
                <a:lnTo>
                  <a:pt x="3828435" y="3828435"/>
                </a:lnTo>
                <a:lnTo>
                  <a:pt x="0" y="38284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390227" y="3328220"/>
            <a:ext cx="3412064" cy="3770236"/>
          </a:xfrm>
          <a:custGeom>
            <a:avLst/>
            <a:gdLst/>
            <a:ahLst/>
            <a:cxnLst/>
            <a:rect l="l" t="t" r="r" b="b"/>
            <a:pathLst>
              <a:path w="3412064" h="3770236">
                <a:moveTo>
                  <a:pt x="0" y="0"/>
                </a:moveTo>
                <a:lnTo>
                  <a:pt x="3412064" y="0"/>
                </a:lnTo>
                <a:lnTo>
                  <a:pt x="3412064" y="3770236"/>
                </a:lnTo>
                <a:lnTo>
                  <a:pt x="0" y="37702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>
            <a:off x="11353595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13199861" y="3178175"/>
            <a:ext cx="4623371" cy="4114800"/>
          </a:xfrm>
          <a:custGeom>
            <a:avLst/>
            <a:gdLst/>
            <a:ahLst/>
            <a:cxnLst/>
            <a:rect l="l" t="t" r="r" b="b"/>
            <a:pathLst>
              <a:path w="4623371" h="4114800">
                <a:moveTo>
                  <a:pt x="0" y="0"/>
                </a:moveTo>
                <a:lnTo>
                  <a:pt x="4623371" y="0"/>
                </a:lnTo>
                <a:lnTo>
                  <a:pt x="46233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13603" y="190500"/>
            <a:ext cx="7272677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AKTIVITAS 2 – 4. PERANCANGAN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3167" y="7235825"/>
            <a:ext cx="4891520" cy="130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1 Dokumen SRS Final Disetujui Stakeholder.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55330" y="1095375"/>
            <a:ext cx="7272677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(Okt W2 - Nov W3)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07928" y="2048740"/>
            <a:ext cx="5353355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2. Penyusunan Dokumen SRS (Blue Print Website)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3167" y="8626475"/>
            <a:ext cx="4891520" cy="130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SRS final disetujui stakeholder, arsitektur project.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8403" y="3824128"/>
            <a:ext cx="1339178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(Okt W2 - Okt W4)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89455" y="3824128"/>
            <a:ext cx="1116393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(Okt W4 - Nov W1)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89455" y="2290601"/>
            <a:ext cx="470331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3. Design Database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95350" y="7235825"/>
            <a:ext cx="4891520" cy="130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Pembuatan tabel database dan diagram alur bisnis.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995350" y="8626475"/>
            <a:ext cx="4891520" cy="130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Database berhasil dibuat berdasarkan SRS.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828007" y="3824128"/>
            <a:ext cx="1496825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(Nov W1 - Nov W3)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590052" y="2290601"/>
            <a:ext cx="65096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4. Perancangan Halaman Website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828485" y="7235825"/>
            <a:ext cx="5994747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Pembuatan esign awal halaman website.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828485" y="8626475"/>
            <a:ext cx="5960873" cy="130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Pembuatan desain wireframe awal berdasarkan SRS.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AD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33883"/>
            <a:chOff x="0" y="0"/>
            <a:chExt cx="4816593" cy="509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09335"/>
            </a:xfrm>
            <a:custGeom>
              <a:avLst/>
              <a:gdLst/>
              <a:ahLst/>
              <a:cxnLst/>
              <a:rect l="l" t="t" r="r" b="b"/>
              <a:pathLst>
                <a:path w="4816592" h="509335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4731380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9272413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3713609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313603" y="190500"/>
            <a:ext cx="7497132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AKTIVITAS 5 – 8. DEVELOPMENT 4 TAHAP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3898" y="3969452"/>
            <a:ext cx="3936370" cy="174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1: Profil Individu lengkap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2: Riwayat Karir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3: Talent Snapshot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45422" y="1176491"/>
            <a:ext cx="7272677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(Nov W3 - Jan W1)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9029" y="2413702"/>
            <a:ext cx="352611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5. Development Tahap 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2099" y="3394777"/>
            <a:ext cx="3305627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(Nov W3 - Des W3)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55373" y="3969452"/>
            <a:ext cx="3936370" cy="218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4: Individual Career Plan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5: •Status Suksesi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6: Analisis Gap Kompetensi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60503" y="2413702"/>
            <a:ext cx="352611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6. Development Tahap 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48290" y="3394777"/>
            <a:ext cx="3305627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(Nov W3 - Des W4)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39101" y="3969452"/>
            <a:ext cx="4107820" cy="218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7: •Individual Development Plan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8: •Review Tahunan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9: Pelatihan / Sertifikasi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05788" y="2413702"/>
            <a:ext cx="352611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7. Development Tahap 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91513" y="3394777"/>
            <a:ext cx="3305627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(Nov W3 - Des W4)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852989" y="3969452"/>
            <a:ext cx="393637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Fitur Tambahan (Jika ada)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101189" y="2413702"/>
            <a:ext cx="352611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8. Development Tahap 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168360" y="3394777"/>
            <a:ext cx="3305627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(Nov W3 - Jan W1)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61284" y="6702425"/>
            <a:ext cx="3977845" cy="218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Menyelesaikan 3 Halaman dan sudah melakukan proses agile atau proses perbaikan per halaman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56499" y="6635750"/>
            <a:ext cx="3977845" cy="218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Menyelesaikan 3 Halaman dan sudah melakukan proses agile atau proses perbaikan per halaman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96320" y="6635750"/>
            <a:ext cx="3977845" cy="218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Menyelesaikan 3 Halaman dan sudah melakukan proses agile atau proses perbaikan per halaman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048870" y="6635750"/>
            <a:ext cx="3977845" cy="262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Menyelesaikan Fitur Tambahan Jika ada dan sudah melakukan proses agile atau proses perbaikan per halaman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33883"/>
            <a:chOff x="0" y="0"/>
            <a:chExt cx="4816593" cy="509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09335"/>
            </a:xfrm>
            <a:custGeom>
              <a:avLst/>
              <a:gdLst/>
              <a:ahLst/>
              <a:cxnLst/>
              <a:rect l="l" t="t" r="r" b="b"/>
              <a:pathLst>
                <a:path w="4816592" h="509335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4731380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9272413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3713609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369029" y="2156524"/>
            <a:ext cx="17420330" cy="2577439"/>
            <a:chOff x="0" y="0"/>
            <a:chExt cx="3584430" cy="53033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584430" cy="530337"/>
            </a:xfrm>
            <a:custGeom>
              <a:avLst/>
              <a:gdLst/>
              <a:ahLst/>
              <a:cxnLst/>
              <a:rect l="l" t="t" r="r" b="b"/>
              <a:pathLst>
                <a:path w="3584430" h="530337">
                  <a:moveTo>
                    <a:pt x="8680" y="0"/>
                  </a:moveTo>
                  <a:lnTo>
                    <a:pt x="3575750" y="0"/>
                  </a:lnTo>
                  <a:cubicBezTo>
                    <a:pt x="3578052" y="0"/>
                    <a:pt x="3580260" y="915"/>
                    <a:pt x="3581888" y="2542"/>
                  </a:cubicBezTo>
                  <a:cubicBezTo>
                    <a:pt x="3583515" y="4170"/>
                    <a:pt x="3584430" y="6378"/>
                    <a:pt x="3584430" y="8680"/>
                  </a:cubicBezTo>
                  <a:lnTo>
                    <a:pt x="3584430" y="521657"/>
                  </a:lnTo>
                  <a:cubicBezTo>
                    <a:pt x="3584430" y="526451"/>
                    <a:pt x="3580544" y="530337"/>
                    <a:pt x="3575750" y="530337"/>
                  </a:cubicBezTo>
                  <a:lnTo>
                    <a:pt x="8680" y="530337"/>
                  </a:lnTo>
                  <a:cubicBezTo>
                    <a:pt x="3886" y="530337"/>
                    <a:pt x="0" y="526451"/>
                    <a:pt x="0" y="521657"/>
                  </a:cubicBezTo>
                  <a:lnTo>
                    <a:pt x="0" y="8680"/>
                  </a:lnTo>
                  <a:cubicBezTo>
                    <a:pt x="0" y="3886"/>
                    <a:pt x="3886" y="0"/>
                    <a:pt x="8680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3584430" cy="587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13603" y="190500"/>
            <a:ext cx="8988508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AKTIVITAS 9 –11. TESTING, IMPLEMENTASI &amp; MONITORING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91743" y="1176491"/>
            <a:ext cx="3422215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(Des W4 - Jan W4)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6651" y="2730519"/>
            <a:ext cx="4026162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9. Test Aplikasi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25753" y="3352819"/>
            <a:ext cx="3305627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(Des W4 - Jan W2) 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369029" y="5010188"/>
            <a:ext cx="17485137" cy="2352592"/>
            <a:chOff x="0" y="0"/>
            <a:chExt cx="3597765" cy="4840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597765" cy="484072"/>
            </a:xfrm>
            <a:custGeom>
              <a:avLst/>
              <a:gdLst/>
              <a:ahLst/>
              <a:cxnLst/>
              <a:rect l="l" t="t" r="r" b="b"/>
              <a:pathLst>
                <a:path w="3597765" h="484072">
                  <a:moveTo>
                    <a:pt x="8648" y="0"/>
                  </a:moveTo>
                  <a:lnTo>
                    <a:pt x="3589117" y="0"/>
                  </a:lnTo>
                  <a:cubicBezTo>
                    <a:pt x="3591411" y="0"/>
                    <a:pt x="3593610" y="911"/>
                    <a:pt x="3595232" y="2533"/>
                  </a:cubicBezTo>
                  <a:cubicBezTo>
                    <a:pt x="3596854" y="4155"/>
                    <a:pt x="3597765" y="6354"/>
                    <a:pt x="3597765" y="8648"/>
                  </a:cubicBezTo>
                  <a:lnTo>
                    <a:pt x="3597765" y="475425"/>
                  </a:lnTo>
                  <a:cubicBezTo>
                    <a:pt x="3597765" y="480201"/>
                    <a:pt x="3593893" y="484072"/>
                    <a:pt x="3589117" y="484072"/>
                  </a:cubicBezTo>
                  <a:lnTo>
                    <a:pt x="8648" y="484072"/>
                  </a:lnTo>
                  <a:cubicBezTo>
                    <a:pt x="6354" y="484072"/>
                    <a:pt x="4155" y="483161"/>
                    <a:pt x="2533" y="481540"/>
                  </a:cubicBezTo>
                  <a:cubicBezTo>
                    <a:pt x="911" y="479918"/>
                    <a:pt x="0" y="477718"/>
                    <a:pt x="0" y="475425"/>
                  </a:cubicBezTo>
                  <a:lnTo>
                    <a:pt x="0" y="8648"/>
                  </a:lnTo>
                  <a:cubicBezTo>
                    <a:pt x="0" y="6354"/>
                    <a:pt x="911" y="4155"/>
                    <a:pt x="2533" y="2533"/>
                  </a:cubicBezTo>
                  <a:cubicBezTo>
                    <a:pt x="4155" y="911"/>
                    <a:pt x="6354" y="0"/>
                    <a:pt x="8648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3597765" cy="5412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69029" y="7636304"/>
            <a:ext cx="17420330" cy="2487238"/>
            <a:chOff x="0" y="0"/>
            <a:chExt cx="3584430" cy="51177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584430" cy="511777"/>
            </a:xfrm>
            <a:custGeom>
              <a:avLst/>
              <a:gdLst/>
              <a:ahLst/>
              <a:cxnLst/>
              <a:rect l="l" t="t" r="r" b="b"/>
              <a:pathLst>
                <a:path w="3584430" h="511777">
                  <a:moveTo>
                    <a:pt x="8680" y="0"/>
                  </a:moveTo>
                  <a:lnTo>
                    <a:pt x="3575750" y="0"/>
                  </a:lnTo>
                  <a:cubicBezTo>
                    <a:pt x="3578052" y="0"/>
                    <a:pt x="3580260" y="915"/>
                    <a:pt x="3581888" y="2542"/>
                  </a:cubicBezTo>
                  <a:cubicBezTo>
                    <a:pt x="3583515" y="4170"/>
                    <a:pt x="3584430" y="6378"/>
                    <a:pt x="3584430" y="8680"/>
                  </a:cubicBezTo>
                  <a:lnTo>
                    <a:pt x="3584430" y="503097"/>
                  </a:lnTo>
                  <a:cubicBezTo>
                    <a:pt x="3584430" y="507891"/>
                    <a:pt x="3580544" y="511777"/>
                    <a:pt x="3575750" y="511777"/>
                  </a:cubicBezTo>
                  <a:lnTo>
                    <a:pt x="8680" y="511777"/>
                  </a:lnTo>
                  <a:cubicBezTo>
                    <a:pt x="3886" y="511777"/>
                    <a:pt x="0" y="507891"/>
                    <a:pt x="0" y="503097"/>
                  </a:cubicBezTo>
                  <a:lnTo>
                    <a:pt x="0" y="8680"/>
                  </a:lnTo>
                  <a:cubicBezTo>
                    <a:pt x="0" y="3886"/>
                    <a:pt x="3886" y="0"/>
                    <a:pt x="8680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3584430" cy="568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8439727" y="3035539"/>
            <a:ext cx="3564895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Pengujian Sistem Aplikasi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1152" y="5534063"/>
            <a:ext cx="7122855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10. Implementasi Di Localhost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64472" y="6153188"/>
            <a:ext cx="3305627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(Jan W1 - Jan W3)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1152" y="8162880"/>
            <a:ext cx="5581689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11. Monitoring Aplikasi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64472" y="8785181"/>
            <a:ext cx="3305627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(Jan W2 - Jan W4)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791743" y="2282844"/>
            <a:ext cx="2716011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</p:txBody>
      </p:sp>
      <p:sp>
        <p:nvSpPr>
          <p:cNvPr id="29" name="AutoShape 29"/>
          <p:cNvSpPr/>
          <p:nvPr/>
        </p:nvSpPr>
        <p:spPr>
          <a:xfrm>
            <a:off x="8200907" y="2156524"/>
            <a:ext cx="0" cy="7967018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>
            <a:off x="12357048" y="2156524"/>
            <a:ext cx="0" cy="8015978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TextBox 31"/>
          <p:cNvSpPr txBox="1"/>
          <p:nvPr/>
        </p:nvSpPr>
        <p:spPr>
          <a:xfrm>
            <a:off x="13841033" y="2282844"/>
            <a:ext cx="2716011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710997" y="3013460"/>
            <a:ext cx="4716154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Pengujian atau test pada semua halaman yang sudah dibuat.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448557" y="6001008"/>
            <a:ext cx="393637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Pengujian sistem aplikasi di localhost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800574" y="5248313"/>
            <a:ext cx="2716011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849863" y="5248313"/>
            <a:ext cx="2716011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719827" y="5978929"/>
            <a:ext cx="4716154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Pengujian atau test pada semua halaman yang sudah dibuat.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420677" y="8437234"/>
            <a:ext cx="3793281" cy="130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Perbaikan jika ditemukan kesalahan/bug pada aplikasi website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800574" y="7877130"/>
            <a:ext cx="2716011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849863" y="7877130"/>
            <a:ext cx="2716011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719827" y="8607746"/>
            <a:ext cx="4716154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Pengujian atau test pada semua halaman yang sudah dibuat.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33883"/>
            <a:chOff x="0" y="0"/>
            <a:chExt cx="4816593" cy="509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09335"/>
            </a:xfrm>
            <a:custGeom>
              <a:avLst/>
              <a:gdLst/>
              <a:ahLst/>
              <a:cxnLst/>
              <a:rect l="l" t="t" r="r" b="b"/>
              <a:pathLst>
                <a:path w="4816592" h="509335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4731380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9272413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3713609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369029" y="2156524"/>
            <a:ext cx="5648866" cy="7967018"/>
            <a:chOff x="0" y="0"/>
            <a:chExt cx="1162318" cy="16393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62318" cy="1639304"/>
            </a:xfrm>
            <a:custGeom>
              <a:avLst/>
              <a:gdLst/>
              <a:ahLst/>
              <a:cxnLst/>
              <a:rect l="l" t="t" r="r" b="b"/>
              <a:pathLst>
                <a:path w="1162318" h="1639304">
                  <a:moveTo>
                    <a:pt x="26768" y="0"/>
                  </a:moveTo>
                  <a:lnTo>
                    <a:pt x="1135550" y="0"/>
                  </a:lnTo>
                  <a:cubicBezTo>
                    <a:pt x="1150334" y="0"/>
                    <a:pt x="1162318" y="11984"/>
                    <a:pt x="1162318" y="26768"/>
                  </a:cubicBezTo>
                  <a:lnTo>
                    <a:pt x="1162318" y="1612536"/>
                  </a:lnTo>
                  <a:cubicBezTo>
                    <a:pt x="1162318" y="1627319"/>
                    <a:pt x="1150334" y="1639304"/>
                    <a:pt x="1135550" y="1639304"/>
                  </a:cubicBezTo>
                  <a:lnTo>
                    <a:pt x="26768" y="1639304"/>
                  </a:lnTo>
                  <a:cubicBezTo>
                    <a:pt x="11984" y="1639304"/>
                    <a:pt x="0" y="1627319"/>
                    <a:pt x="0" y="1612536"/>
                  </a:cubicBezTo>
                  <a:lnTo>
                    <a:pt x="0" y="26768"/>
                  </a:lnTo>
                  <a:cubicBezTo>
                    <a:pt x="0" y="11984"/>
                    <a:pt x="11984" y="0"/>
                    <a:pt x="26768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162318" cy="1696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12841" y="2156524"/>
            <a:ext cx="5578606" cy="7967018"/>
            <a:chOff x="0" y="0"/>
            <a:chExt cx="1147861" cy="163930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47861" cy="1639304"/>
            </a:xfrm>
            <a:custGeom>
              <a:avLst/>
              <a:gdLst/>
              <a:ahLst/>
              <a:cxnLst/>
              <a:rect l="l" t="t" r="r" b="b"/>
              <a:pathLst>
                <a:path w="1147861" h="1639304">
                  <a:moveTo>
                    <a:pt x="27105" y="0"/>
                  </a:moveTo>
                  <a:lnTo>
                    <a:pt x="1120756" y="0"/>
                  </a:lnTo>
                  <a:cubicBezTo>
                    <a:pt x="1135726" y="0"/>
                    <a:pt x="1147861" y="12135"/>
                    <a:pt x="1147861" y="27105"/>
                  </a:cubicBezTo>
                  <a:lnTo>
                    <a:pt x="1147861" y="1612199"/>
                  </a:lnTo>
                  <a:cubicBezTo>
                    <a:pt x="1147861" y="1619388"/>
                    <a:pt x="1145005" y="1626282"/>
                    <a:pt x="1139922" y="1631365"/>
                  </a:cubicBezTo>
                  <a:cubicBezTo>
                    <a:pt x="1134839" y="1636448"/>
                    <a:pt x="1127945" y="1639304"/>
                    <a:pt x="1120756" y="1639304"/>
                  </a:cubicBezTo>
                  <a:lnTo>
                    <a:pt x="27105" y="1639304"/>
                  </a:lnTo>
                  <a:cubicBezTo>
                    <a:pt x="12135" y="1639304"/>
                    <a:pt x="0" y="1627169"/>
                    <a:pt x="0" y="1612199"/>
                  </a:cubicBezTo>
                  <a:lnTo>
                    <a:pt x="0" y="27105"/>
                  </a:lnTo>
                  <a:cubicBezTo>
                    <a:pt x="0" y="19916"/>
                    <a:pt x="2856" y="13022"/>
                    <a:pt x="7939" y="7939"/>
                  </a:cubicBezTo>
                  <a:cubicBezTo>
                    <a:pt x="13022" y="2856"/>
                    <a:pt x="19916" y="0"/>
                    <a:pt x="27105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147861" cy="1696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328258" y="2156524"/>
            <a:ext cx="5461101" cy="7967018"/>
            <a:chOff x="0" y="0"/>
            <a:chExt cx="1123683" cy="163930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23683" cy="1639304"/>
            </a:xfrm>
            <a:custGeom>
              <a:avLst/>
              <a:gdLst/>
              <a:ahLst/>
              <a:cxnLst/>
              <a:rect l="l" t="t" r="r" b="b"/>
              <a:pathLst>
                <a:path w="1123683" h="1639304">
                  <a:moveTo>
                    <a:pt x="27688" y="0"/>
                  </a:moveTo>
                  <a:lnTo>
                    <a:pt x="1095995" y="0"/>
                  </a:lnTo>
                  <a:cubicBezTo>
                    <a:pt x="1103338" y="0"/>
                    <a:pt x="1110381" y="2917"/>
                    <a:pt x="1115573" y="8110"/>
                  </a:cubicBezTo>
                  <a:cubicBezTo>
                    <a:pt x="1120766" y="13302"/>
                    <a:pt x="1123683" y="20345"/>
                    <a:pt x="1123683" y="27688"/>
                  </a:cubicBezTo>
                  <a:lnTo>
                    <a:pt x="1123683" y="1611616"/>
                  </a:lnTo>
                  <a:cubicBezTo>
                    <a:pt x="1123683" y="1626907"/>
                    <a:pt x="1111287" y="1639304"/>
                    <a:pt x="1095995" y="1639304"/>
                  </a:cubicBezTo>
                  <a:lnTo>
                    <a:pt x="27688" y="1639304"/>
                  </a:lnTo>
                  <a:cubicBezTo>
                    <a:pt x="12397" y="1639304"/>
                    <a:pt x="0" y="1626907"/>
                    <a:pt x="0" y="1611616"/>
                  </a:cubicBezTo>
                  <a:lnTo>
                    <a:pt x="0" y="27688"/>
                  </a:lnTo>
                  <a:cubicBezTo>
                    <a:pt x="0" y="12397"/>
                    <a:pt x="12397" y="0"/>
                    <a:pt x="27688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123683" cy="1696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831152" y="4437790"/>
            <a:ext cx="3360526" cy="705710"/>
          </a:xfrm>
          <a:custGeom>
            <a:avLst/>
            <a:gdLst/>
            <a:ahLst/>
            <a:cxnLst/>
            <a:rect l="l" t="t" r="r" b="b"/>
            <a:pathLst>
              <a:path w="3360526" h="705710">
                <a:moveTo>
                  <a:pt x="0" y="0"/>
                </a:moveTo>
                <a:lnTo>
                  <a:pt x="3360526" y="0"/>
                </a:lnTo>
                <a:lnTo>
                  <a:pt x="3360526" y="705710"/>
                </a:lnTo>
                <a:lnTo>
                  <a:pt x="0" y="705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313603" y="190500"/>
            <a:ext cx="8988508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AKTIVITAS 12 – 14. DEPLOYMENT SAMPAI SIAP DIGUNAKAN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368086" y="1124258"/>
            <a:ext cx="3422215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(Jan W3 - Jan W4)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6651" y="2730519"/>
            <a:ext cx="4026162" cy="1393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12. Deployment (Siap digunakan)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6051" y="5502679"/>
            <a:ext cx="3305627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4500132"/>
            <a:ext cx="3108079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(Jan W3 - Jan W4)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6443" y="6082883"/>
            <a:ext cx="393637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Aplikasi dapat digunakan secara umum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9092" y="7092405"/>
            <a:ext cx="3305627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6443" y="7718380"/>
            <a:ext cx="393637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Melakukan Deployment bersama tim.</a:t>
            </a:r>
          </a:p>
        </p:txBody>
      </p:sp>
      <p:sp>
        <p:nvSpPr>
          <p:cNvPr id="28" name="Freeform 28"/>
          <p:cNvSpPr/>
          <p:nvPr/>
        </p:nvSpPr>
        <p:spPr>
          <a:xfrm>
            <a:off x="6960193" y="5215243"/>
            <a:ext cx="3360526" cy="705710"/>
          </a:xfrm>
          <a:custGeom>
            <a:avLst/>
            <a:gdLst/>
            <a:ahLst/>
            <a:cxnLst/>
            <a:rect l="l" t="t" r="r" b="b"/>
            <a:pathLst>
              <a:path w="3360526" h="705710">
                <a:moveTo>
                  <a:pt x="0" y="0"/>
                </a:moveTo>
                <a:lnTo>
                  <a:pt x="3360526" y="0"/>
                </a:lnTo>
                <a:lnTo>
                  <a:pt x="3360526" y="705710"/>
                </a:lnTo>
                <a:lnTo>
                  <a:pt x="0" y="705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6941558" y="2730519"/>
            <a:ext cx="4026162" cy="209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13. Dokumentasi Penggunaan Website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000957" y="6205537"/>
            <a:ext cx="3305627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122772" y="5291859"/>
            <a:ext cx="3108079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(Jan W3 - Jan W4)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031349" y="6785742"/>
            <a:ext cx="393637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Membuat panduan untuk penggunaan website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023998" y="7795264"/>
            <a:ext cx="3305627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031349" y="8421239"/>
            <a:ext cx="393637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Membuat dokumentasi untuk penggunaan website.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915372" y="2872223"/>
            <a:ext cx="4026162" cy="209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14. Projek Website Siap Digunakan</a:t>
            </a:r>
          </a:p>
        </p:txBody>
      </p:sp>
      <p:sp>
        <p:nvSpPr>
          <p:cNvPr id="36" name="Freeform 36"/>
          <p:cNvSpPr/>
          <p:nvPr/>
        </p:nvSpPr>
        <p:spPr>
          <a:xfrm>
            <a:off x="12813700" y="5215243"/>
            <a:ext cx="3360526" cy="705710"/>
          </a:xfrm>
          <a:custGeom>
            <a:avLst/>
            <a:gdLst/>
            <a:ahLst/>
            <a:cxnLst/>
            <a:rect l="l" t="t" r="r" b="b"/>
            <a:pathLst>
              <a:path w="3360526" h="705710">
                <a:moveTo>
                  <a:pt x="0" y="0"/>
                </a:moveTo>
                <a:lnTo>
                  <a:pt x="3360526" y="0"/>
                </a:lnTo>
                <a:lnTo>
                  <a:pt x="3360526" y="705710"/>
                </a:lnTo>
                <a:lnTo>
                  <a:pt x="0" y="705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2997812" y="5281078"/>
            <a:ext cx="3108079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(Jan W3 - Jan W4)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945072" y="6290538"/>
            <a:ext cx="3305627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975464" y="6870742"/>
            <a:ext cx="393637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Sesi training pengguna selesai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968112" y="7880264"/>
            <a:ext cx="3305627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975464" y="8506239"/>
            <a:ext cx="393637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Membuat dokumentasi untuk penggunaan website.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33883"/>
            <a:chOff x="0" y="0"/>
            <a:chExt cx="4816593" cy="509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09335"/>
            </a:xfrm>
            <a:custGeom>
              <a:avLst/>
              <a:gdLst/>
              <a:ahLst/>
              <a:cxnLst/>
              <a:rect l="l" t="t" r="r" b="b"/>
              <a:pathLst>
                <a:path w="4816592" h="509335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4731380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9272413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3713609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2328258" y="2451151"/>
            <a:ext cx="5461101" cy="7005818"/>
            <a:chOff x="0" y="0"/>
            <a:chExt cx="1123683" cy="144152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23683" cy="1441526"/>
            </a:xfrm>
            <a:custGeom>
              <a:avLst/>
              <a:gdLst/>
              <a:ahLst/>
              <a:cxnLst/>
              <a:rect l="l" t="t" r="r" b="b"/>
              <a:pathLst>
                <a:path w="1123683" h="1441526">
                  <a:moveTo>
                    <a:pt x="27688" y="0"/>
                  </a:moveTo>
                  <a:lnTo>
                    <a:pt x="1095995" y="0"/>
                  </a:lnTo>
                  <a:cubicBezTo>
                    <a:pt x="1103338" y="0"/>
                    <a:pt x="1110381" y="2917"/>
                    <a:pt x="1115573" y="8110"/>
                  </a:cubicBezTo>
                  <a:cubicBezTo>
                    <a:pt x="1120766" y="13302"/>
                    <a:pt x="1123683" y="20345"/>
                    <a:pt x="1123683" y="27688"/>
                  </a:cubicBezTo>
                  <a:lnTo>
                    <a:pt x="1123683" y="1413838"/>
                  </a:lnTo>
                  <a:cubicBezTo>
                    <a:pt x="1123683" y="1429130"/>
                    <a:pt x="1111287" y="1441526"/>
                    <a:pt x="1095995" y="1441526"/>
                  </a:cubicBezTo>
                  <a:lnTo>
                    <a:pt x="27688" y="1441526"/>
                  </a:lnTo>
                  <a:cubicBezTo>
                    <a:pt x="12397" y="1441526"/>
                    <a:pt x="0" y="1429130"/>
                    <a:pt x="0" y="1413838"/>
                  </a:cubicBezTo>
                  <a:lnTo>
                    <a:pt x="0" y="27688"/>
                  </a:lnTo>
                  <a:cubicBezTo>
                    <a:pt x="0" y="12397"/>
                    <a:pt x="12397" y="0"/>
                    <a:pt x="27688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123683" cy="14986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332912" y="2451151"/>
            <a:ext cx="11995346" cy="7140087"/>
          </a:xfrm>
          <a:custGeom>
            <a:avLst/>
            <a:gdLst/>
            <a:ahLst/>
            <a:cxnLst/>
            <a:rect l="l" t="t" r="r" b="b"/>
            <a:pathLst>
              <a:path w="11995346" h="7140087">
                <a:moveTo>
                  <a:pt x="0" y="0"/>
                </a:moveTo>
                <a:lnTo>
                  <a:pt x="11995346" y="0"/>
                </a:lnTo>
                <a:lnTo>
                  <a:pt x="11995346" y="7140087"/>
                </a:lnTo>
                <a:lnTo>
                  <a:pt x="0" y="71400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69723" y="190500"/>
            <a:ext cx="8064983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BEBAN KERJA MEMUNCAK DI NOV W3 - DES W4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644236" y="2649474"/>
            <a:ext cx="4667022" cy="280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5 aktivitas paralel di Nov W3, saat 4 tahap development dimulai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699726" y="5600700"/>
            <a:ext cx="4718165" cy="3657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Dari Nov W3 hingga Des W4 selalu ada minimal 4 aktivitas berjalan bersamaan, sehingga koordinasi tim dan pembagian tugas perlu dijaga.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9723" y="1886258"/>
            <a:ext cx="7792237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Jumlah aktivitas (dari 14) yang berjalan bersamaan tiap minggu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33883"/>
            <a:chOff x="0" y="0"/>
            <a:chExt cx="4816593" cy="509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09335"/>
            </a:xfrm>
            <a:custGeom>
              <a:avLst/>
              <a:gdLst/>
              <a:ahLst/>
              <a:cxnLst/>
              <a:rect l="l" t="t" r="r" b="b"/>
              <a:pathLst>
                <a:path w="4816592" h="509335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13603" y="190500"/>
            <a:ext cx="7497132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MONITORING PROGRES: PLAN VS ACTUAL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1303" y="3656631"/>
            <a:ext cx="3936370" cy="174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1: Profil Individu lengkap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2: Riwayat Karir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3: Talent Snapshot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55373" y="1339850"/>
            <a:ext cx="12222605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(Baris Actual pada Excel diisi berkala untuk membandingkan rencana dengan realisasi)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9528" y="3607100"/>
            <a:ext cx="3305627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(Nov W3 - Des W3) 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962074" y="2181162"/>
            <a:ext cx="4064642" cy="4578413"/>
            <a:chOff x="0" y="0"/>
            <a:chExt cx="836346" cy="9420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36346" cy="942060"/>
            </a:xfrm>
            <a:custGeom>
              <a:avLst/>
              <a:gdLst/>
              <a:ahLst/>
              <a:cxnLst/>
              <a:rect l="l" t="t" r="r" b="b"/>
              <a:pathLst>
                <a:path w="836346" h="942060">
                  <a:moveTo>
                    <a:pt x="37201" y="0"/>
                  </a:moveTo>
                  <a:lnTo>
                    <a:pt x="799145" y="0"/>
                  </a:lnTo>
                  <a:cubicBezTo>
                    <a:pt x="809011" y="0"/>
                    <a:pt x="818473" y="3919"/>
                    <a:pt x="825450" y="10896"/>
                  </a:cubicBezTo>
                  <a:cubicBezTo>
                    <a:pt x="832427" y="17873"/>
                    <a:pt x="836346" y="27335"/>
                    <a:pt x="836346" y="37201"/>
                  </a:cubicBezTo>
                  <a:lnTo>
                    <a:pt x="836346" y="904859"/>
                  </a:lnTo>
                  <a:cubicBezTo>
                    <a:pt x="836346" y="914725"/>
                    <a:pt x="832427" y="924188"/>
                    <a:pt x="825450" y="931164"/>
                  </a:cubicBezTo>
                  <a:cubicBezTo>
                    <a:pt x="818473" y="938141"/>
                    <a:pt x="809011" y="942060"/>
                    <a:pt x="799145" y="942060"/>
                  </a:cubicBezTo>
                  <a:lnTo>
                    <a:pt x="37201" y="942060"/>
                  </a:lnTo>
                  <a:cubicBezTo>
                    <a:pt x="27335" y="942060"/>
                    <a:pt x="17873" y="938141"/>
                    <a:pt x="10896" y="931164"/>
                  </a:cubicBezTo>
                  <a:cubicBezTo>
                    <a:pt x="3919" y="924188"/>
                    <a:pt x="0" y="914725"/>
                    <a:pt x="0" y="904859"/>
                  </a:cubicBezTo>
                  <a:lnTo>
                    <a:pt x="0" y="37201"/>
                  </a:lnTo>
                  <a:cubicBezTo>
                    <a:pt x="0" y="27335"/>
                    <a:pt x="3919" y="17873"/>
                    <a:pt x="10896" y="10896"/>
                  </a:cubicBezTo>
                  <a:cubicBezTo>
                    <a:pt x="17873" y="3919"/>
                    <a:pt x="27335" y="0"/>
                    <a:pt x="37201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836346" cy="999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60690" y="2181162"/>
            <a:ext cx="4064642" cy="4578413"/>
            <a:chOff x="0" y="0"/>
            <a:chExt cx="836346" cy="9420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36346" cy="942060"/>
            </a:xfrm>
            <a:custGeom>
              <a:avLst/>
              <a:gdLst/>
              <a:ahLst/>
              <a:cxnLst/>
              <a:rect l="l" t="t" r="r" b="b"/>
              <a:pathLst>
                <a:path w="836346" h="942060">
                  <a:moveTo>
                    <a:pt x="37201" y="0"/>
                  </a:moveTo>
                  <a:lnTo>
                    <a:pt x="799145" y="0"/>
                  </a:lnTo>
                  <a:cubicBezTo>
                    <a:pt x="809011" y="0"/>
                    <a:pt x="818473" y="3919"/>
                    <a:pt x="825450" y="10896"/>
                  </a:cubicBezTo>
                  <a:cubicBezTo>
                    <a:pt x="832427" y="17873"/>
                    <a:pt x="836346" y="27335"/>
                    <a:pt x="836346" y="37201"/>
                  </a:cubicBezTo>
                  <a:lnTo>
                    <a:pt x="836346" y="904859"/>
                  </a:lnTo>
                  <a:cubicBezTo>
                    <a:pt x="836346" y="914725"/>
                    <a:pt x="832427" y="924188"/>
                    <a:pt x="825450" y="931164"/>
                  </a:cubicBezTo>
                  <a:cubicBezTo>
                    <a:pt x="818473" y="938141"/>
                    <a:pt x="809011" y="942060"/>
                    <a:pt x="799145" y="942060"/>
                  </a:cubicBezTo>
                  <a:lnTo>
                    <a:pt x="37201" y="942060"/>
                  </a:lnTo>
                  <a:cubicBezTo>
                    <a:pt x="27335" y="942060"/>
                    <a:pt x="17873" y="938141"/>
                    <a:pt x="10896" y="931164"/>
                  </a:cubicBezTo>
                  <a:cubicBezTo>
                    <a:pt x="3919" y="924188"/>
                    <a:pt x="0" y="914725"/>
                    <a:pt x="0" y="904859"/>
                  </a:cubicBezTo>
                  <a:lnTo>
                    <a:pt x="0" y="37201"/>
                  </a:lnTo>
                  <a:cubicBezTo>
                    <a:pt x="0" y="27335"/>
                    <a:pt x="3919" y="17873"/>
                    <a:pt x="10896" y="10896"/>
                  </a:cubicBezTo>
                  <a:cubicBezTo>
                    <a:pt x="17873" y="3919"/>
                    <a:pt x="27335" y="0"/>
                    <a:pt x="37201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836346" cy="999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950597" y="2181162"/>
            <a:ext cx="4064642" cy="4578413"/>
            <a:chOff x="0" y="0"/>
            <a:chExt cx="836346" cy="9420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36346" cy="942060"/>
            </a:xfrm>
            <a:custGeom>
              <a:avLst/>
              <a:gdLst/>
              <a:ahLst/>
              <a:cxnLst/>
              <a:rect l="l" t="t" r="r" b="b"/>
              <a:pathLst>
                <a:path w="836346" h="942060">
                  <a:moveTo>
                    <a:pt x="37201" y="0"/>
                  </a:moveTo>
                  <a:lnTo>
                    <a:pt x="799145" y="0"/>
                  </a:lnTo>
                  <a:cubicBezTo>
                    <a:pt x="809011" y="0"/>
                    <a:pt x="818473" y="3919"/>
                    <a:pt x="825450" y="10896"/>
                  </a:cubicBezTo>
                  <a:cubicBezTo>
                    <a:pt x="832427" y="17873"/>
                    <a:pt x="836346" y="27335"/>
                    <a:pt x="836346" y="37201"/>
                  </a:cubicBezTo>
                  <a:lnTo>
                    <a:pt x="836346" y="904859"/>
                  </a:lnTo>
                  <a:cubicBezTo>
                    <a:pt x="836346" y="914725"/>
                    <a:pt x="832427" y="924188"/>
                    <a:pt x="825450" y="931164"/>
                  </a:cubicBezTo>
                  <a:cubicBezTo>
                    <a:pt x="818473" y="938141"/>
                    <a:pt x="809011" y="942060"/>
                    <a:pt x="799145" y="942060"/>
                  </a:cubicBezTo>
                  <a:lnTo>
                    <a:pt x="37201" y="942060"/>
                  </a:lnTo>
                  <a:cubicBezTo>
                    <a:pt x="27335" y="942060"/>
                    <a:pt x="17873" y="938141"/>
                    <a:pt x="10896" y="931164"/>
                  </a:cubicBezTo>
                  <a:cubicBezTo>
                    <a:pt x="3919" y="924188"/>
                    <a:pt x="0" y="914725"/>
                    <a:pt x="0" y="904859"/>
                  </a:cubicBezTo>
                  <a:lnTo>
                    <a:pt x="0" y="37201"/>
                  </a:lnTo>
                  <a:cubicBezTo>
                    <a:pt x="0" y="27335"/>
                    <a:pt x="3919" y="17873"/>
                    <a:pt x="10896" y="10896"/>
                  </a:cubicBezTo>
                  <a:cubicBezTo>
                    <a:pt x="17873" y="3919"/>
                    <a:pt x="27335" y="0"/>
                    <a:pt x="37201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836346" cy="999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04788" y="2181162"/>
            <a:ext cx="4064642" cy="4578413"/>
            <a:chOff x="0" y="0"/>
            <a:chExt cx="836346" cy="9420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36346" cy="942060"/>
            </a:xfrm>
            <a:custGeom>
              <a:avLst/>
              <a:gdLst/>
              <a:ahLst/>
              <a:cxnLst/>
              <a:rect l="l" t="t" r="r" b="b"/>
              <a:pathLst>
                <a:path w="836346" h="942060">
                  <a:moveTo>
                    <a:pt x="37201" y="0"/>
                  </a:moveTo>
                  <a:lnTo>
                    <a:pt x="799145" y="0"/>
                  </a:lnTo>
                  <a:cubicBezTo>
                    <a:pt x="809011" y="0"/>
                    <a:pt x="818473" y="3919"/>
                    <a:pt x="825450" y="10896"/>
                  </a:cubicBezTo>
                  <a:cubicBezTo>
                    <a:pt x="832427" y="17873"/>
                    <a:pt x="836346" y="27335"/>
                    <a:pt x="836346" y="37201"/>
                  </a:cubicBezTo>
                  <a:lnTo>
                    <a:pt x="836346" y="904859"/>
                  </a:lnTo>
                  <a:cubicBezTo>
                    <a:pt x="836346" y="914725"/>
                    <a:pt x="832427" y="924188"/>
                    <a:pt x="825450" y="931164"/>
                  </a:cubicBezTo>
                  <a:cubicBezTo>
                    <a:pt x="818473" y="938141"/>
                    <a:pt x="809011" y="942060"/>
                    <a:pt x="799145" y="942060"/>
                  </a:cubicBezTo>
                  <a:lnTo>
                    <a:pt x="37201" y="942060"/>
                  </a:lnTo>
                  <a:cubicBezTo>
                    <a:pt x="27335" y="942060"/>
                    <a:pt x="17873" y="938141"/>
                    <a:pt x="10896" y="931164"/>
                  </a:cubicBezTo>
                  <a:cubicBezTo>
                    <a:pt x="3919" y="924188"/>
                    <a:pt x="0" y="914725"/>
                    <a:pt x="0" y="904859"/>
                  </a:cubicBezTo>
                  <a:lnTo>
                    <a:pt x="0" y="37201"/>
                  </a:lnTo>
                  <a:cubicBezTo>
                    <a:pt x="0" y="27335"/>
                    <a:pt x="3919" y="17873"/>
                    <a:pt x="10896" y="10896"/>
                  </a:cubicBezTo>
                  <a:cubicBezTo>
                    <a:pt x="17873" y="3919"/>
                    <a:pt x="27335" y="0"/>
                    <a:pt x="37201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836346" cy="999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74488" y="7302500"/>
            <a:ext cx="17852228" cy="2636938"/>
            <a:chOff x="0" y="0"/>
            <a:chExt cx="3673298" cy="54258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673298" cy="542580"/>
            </a:xfrm>
            <a:custGeom>
              <a:avLst/>
              <a:gdLst/>
              <a:ahLst/>
              <a:cxnLst/>
              <a:rect l="l" t="t" r="r" b="b"/>
              <a:pathLst>
                <a:path w="3673298" h="542580">
                  <a:moveTo>
                    <a:pt x="8470" y="0"/>
                  </a:moveTo>
                  <a:lnTo>
                    <a:pt x="3664828" y="0"/>
                  </a:lnTo>
                  <a:cubicBezTo>
                    <a:pt x="3667074" y="0"/>
                    <a:pt x="3669229" y="892"/>
                    <a:pt x="3670817" y="2481"/>
                  </a:cubicBezTo>
                  <a:cubicBezTo>
                    <a:pt x="3672406" y="4069"/>
                    <a:pt x="3673298" y="6224"/>
                    <a:pt x="3673298" y="8470"/>
                  </a:cubicBezTo>
                  <a:lnTo>
                    <a:pt x="3673298" y="534110"/>
                  </a:lnTo>
                  <a:cubicBezTo>
                    <a:pt x="3673298" y="536356"/>
                    <a:pt x="3672406" y="538510"/>
                    <a:pt x="3670817" y="540099"/>
                  </a:cubicBezTo>
                  <a:cubicBezTo>
                    <a:pt x="3669229" y="541687"/>
                    <a:pt x="3667074" y="542580"/>
                    <a:pt x="3664828" y="542580"/>
                  </a:cubicBezTo>
                  <a:lnTo>
                    <a:pt x="8470" y="542580"/>
                  </a:lnTo>
                  <a:cubicBezTo>
                    <a:pt x="6224" y="542580"/>
                    <a:pt x="4069" y="541687"/>
                    <a:pt x="2481" y="540099"/>
                  </a:cubicBezTo>
                  <a:cubicBezTo>
                    <a:pt x="892" y="538510"/>
                    <a:pt x="0" y="536356"/>
                    <a:pt x="0" y="534110"/>
                  </a:cubicBezTo>
                  <a:lnTo>
                    <a:pt x="0" y="8470"/>
                  </a:lnTo>
                  <a:cubicBezTo>
                    <a:pt x="0" y="6224"/>
                    <a:pt x="892" y="4069"/>
                    <a:pt x="2481" y="2481"/>
                  </a:cubicBezTo>
                  <a:cubicBezTo>
                    <a:pt x="4069" y="892"/>
                    <a:pt x="6224" y="0"/>
                    <a:pt x="8470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3673298" cy="599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87634" y="3875706"/>
            <a:ext cx="3169415" cy="130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Jadwal rencana tiap aktivitas (sel biru di Excel)</a:t>
            </a:r>
          </a:p>
        </p:txBody>
      </p:sp>
      <p:sp>
        <p:nvSpPr>
          <p:cNvPr id="27" name="Freeform 27"/>
          <p:cNvSpPr/>
          <p:nvPr/>
        </p:nvSpPr>
        <p:spPr>
          <a:xfrm>
            <a:off x="1033153" y="3034029"/>
            <a:ext cx="621872" cy="621872"/>
          </a:xfrm>
          <a:custGeom>
            <a:avLst/>
            <a:gdLst/>
            <a:ahLst/>
            <a:cxnLst/>
            <a:rect l="l" t="t" r="r" b="b"/>
            <a:pathLst>
              <a:path w="621872" h="621872">
                <a:moveTo>
                  <a:pt x="0" y="0"/>
                </a:moveTo>
                <a:lnTo>
                  <a:pt x="621872" y="0"/>
                </a:lnTo>
                <a:lnTo>
                  <a:pt x="621872" y="621873"/>
                </a:lnTo>
                <a:lnTo>
                  <a:pt x="0" y="6218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858650" y="2943524"/>
            <a:ext cx="1395918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PLAN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26665" y="3043855"/>
            <a:ext cx="234848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498690" y="3880485"/>
            <a:ext cx="3169415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Realisasi diisi berkala di baris Actual</a:t>
            </a:r>
          </a:p>
        </p:txBody>
      </p:sp>
      <p:sp>
        <p:nvSpPr>
          <p:cNvPr id="31" name="Freeform 31"/>
          <p:cNvSpPr/>
          <p:nvPr/>
        </p:nvSpPr>
        <p:spPr>
          <a:xfrm>
            <a:off x="5553343" y="3034029"/>
            <a:ext cx="621872" cy="621872"/>
          </a:xfrm>
          <a:custGeom>
            <a:avLst/>
            <a:gdLst/>
            <a:ahLst/>
            <a:cxnLst/>
            <a:rect l="l" t="t" r="r" b="b"/>
            <a:pathLst>
              <a:path w="621872" h="621872">
                <a:moveTo>
                  <a:pt x="0" y="0"/>
                </a:moveTo>
                <a:lnTo>
                  <a:pt x="621873" y="0"/>
                </a:lnTo>
                <a:lnTo>
                  <a:pt x="621873" y="621873"/>
                </a:lnTo>
                <a:lnTo>
                  <a:pt x="0" y="6218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6378840" y="2943524"/>
            <a:ext cx="2033652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ACTUAL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746855" y="3043855"/>
            <a:ext cx="234848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2</a:t>
            </a:r>
          </a:p>
        </p:txBody>
      </p:sp>
      <p:sp>
        <p:nvSpPr>
          <p:cNvPr id="34" name="Freeform 34"/>
          <p:cNvSpPr/>
          <p:nvPr/>
        </p:nvSpPr>
        <p:spPr>
          <a:xfrm>
            <a:off x="10063437" y="3010628"/>
            <a:ext cx="621872" cy="621872"/>
          </a:xfrm>
          <a:custGeom>
            <a:avLst/>
            <a:gdLst/>
            <a:ahLst/>
            <a:cxnLst/>
            <a:rect l="l" t="t" r="r" b="b"/>
            <a:pathLst>
              <a:path w="621872" h="621872">
                <a:moveTo>
                  <a:pt x="0" y="0"/>
                </a:moveTo>
                <a:lnTo>
                  <a:pt x="621872" y="0"/>
                </a:lnTo>
                <a:lnTo>
                  <a:pt x="621872" y="621872"/>
                </a:lnTo>
                <a:lnTo>
                  <a:pt x="0" y="6218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10888934" y="2920123"/>
            <a:ext cx="2033652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REVIEW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256949" y="3020454"/>
            <a:ext cx="234848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3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939163" y="3935566"/>
            <a:ext cx="3169415" cy="174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Bandingkan deviasi saat pertemuan rutin (Selisih antara plan dan actual)</a:t>
            </a:r>
          </a:p>
        </p:txBody>
      </p:sp>
      <p:sp>
        <p:nvSpPr>
          <p:cNvPr id="38" name="Freeform 38"/>
          <p:cNvSpPr/>
          <p:nvPr/>
        </p:nvSpPr>
        <p:spPr>
          <a:xfrm>
            <a:off x="14573530" y="3010628"/>
            <a:ext cx="621872" cy="621872"/>
          </a:xfrm>
          <a:custGeom>
            <a:avLst/>
            <a:gdLst/>
            <a:ahLst/>
            <a:cxnLst/>
            <a:rect l="l" t="t" r="r" b="b"/>
            <a:pathLst>
              <a:path w="621872" h="621872">
                <a:moveTo>
                  <a:pt x="0" y="0"/>
                </a:moveTo>
                <a:lnTo>
                  <a:pt x="621873" y="0"/>
                </a:lnTo>
                <a:lnTo>
                  <a:pt x="621873" y="621872"/>
                </a:lnTo>
                <a:lnTo>
                  <a:pt x="0" y="6218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15399027" y="2920123"/>
            <a:ext cx="2033652" cy="1393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Tindak lanjut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767042" y="3020454"/>
            <a:ext cx="234848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4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449257" y="4413219"/>
            <a:ext cx="3169415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Atur ulang prioritas bila ada keterlambatan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45924" y="8085704"/>
            <a:ext cx="16427277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SRS harus disetujui stakeholder sebelum tahap perancangan dan development berjalan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Nov W3 – Des W4: minimal 4 aktivitas berjalan paralel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Januari: test, localhost, monitoring, deployment, dan dokumentasi bertumpuk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77427" y="7387203"/>
            <a:ext cx="7260493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Titik kritis yang dipantau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0497" y="3947073"/>
            <a:ext cx="17498862" cy="5622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5" lvl="1" indent="-431797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Menyelesaikan 14 aktivitas dalam 16 minggu (Oktober–Januari), mencakup keseluruhan proses mulai dari pengumpulan data hingga training.</a:t>
            </a:r>
          </a:p>
          <a:p>
            <a:pPr marL="863595" lvl="1" indent="-431797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Berhasil mengembangkan 9 tab modul melalui 4 tahap development, dilengkapi fitur login, register, dan search.</a:t>
            </a:r>
          </a:p>
          <a:p>
            <a:pPr marL="863595" lvl="1" indent="-431797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Website siap digunakan, telah melalui tahap deployment, dokumentasi, dan sesi training pengguna.</a:t>
            </a:r>
          </a:p>
          <a:p>
            <a:pPr marL="863595" lvl="1" indent="-431797" algn="just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Proyek berjalan sesuai timeline dan target yang direncanakan sejak tahap awal.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0" y="1952933"/>
            <a:ext cx="18288000" cy="0"/>
          </a:xfrm>
          <a:prstGeom prst="line">
            <a:avLst/>
          </a:prstGeom>
          <a:ln w="38100" cap="flat">
            <a:solidFill>
              <a:srgbClr val="1A252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0" y="0"/>
            <a:ext cx="18288000" cy="1933883"/>
            <a:chOff x="0" y="0"/>
            <a:chExt cx="4816593" cy="5093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509335"/>
            </a:xfrm>
            <a:custGeom>
              <a:avLst/>
              <a:gdLst/>
              <a:ahLst/>
              <a:cxnLst/>
              <a:rect l="l" t="t" r="r" b="b"/>
              <a:pathLst>
                <a:path w="4816592" h="509335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698" y="1933883"/>
            <a:ext cx="16230600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KESIMPULAN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1021</Words>
  <Application>Microsoft Office PowerPoint</Application>
  <PresentationFormat>Custom</PresentationFormat>
  <Paragraphs>187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Cambria</vt:lpstr>
      <vt:lpstr>Cambria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and Cream Illustration Marketing Plan Presentation</dc:title>
  <cp:lastModifiedBy>Al Qadri</cp:lastModifiedBy>
  <cp:revision>4</cp:revision>
  <dcterms:created xsi:type="dcterms:W3CDTF">2006-08-16T00:00:00Z</dcterms:created>
  <dcterms:modified xsi:type="dcterms:W3CDTF">2026-09-29T08:09:27Z</dcterms:modified>
  <dc:identifier>DAHWiWPAEtk</dc:identifier>
</cp:coreProperties>
</file>
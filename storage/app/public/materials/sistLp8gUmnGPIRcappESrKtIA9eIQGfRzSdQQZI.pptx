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Boston Angel" charset="1" panose="00000000000000000000"/>
      <p:regular r:id="rId11"/>
    </p:embeddedFont>
    <p:embeddedFont>
      <p:font typeface="Be Vietnam" charset="1" panose="00000500000000000000"/>
      <p:regular r:id="rId12"/>
    </p:embeddedFont>
    <p:embeddedFont>
      <p:font typeface="Be Vietnam Ultra-Bold" charset="1" panose="00000900000000000000"/>
      <p:regular r:id="rId13"/>
    </p:embeddedFont>
    <p:embeddedFont>
      <p:font typeface="Segoe UI Bold" charset="1" panose="020B0802040204020203"/>
      <p:regular r:id="rId14"/>
    </p:embeddedFont>
    <p:embeddedFont>
      <p:font typeface="Open Sans" charset="1" panose="020B0606030504020204"/>
      <p:regular r:id="rId15"/>
    </p:embeddedFont>
    <p:embeddedFont>
      <p:font typeface="Open Sans Bold" charset="1" panose="020B08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3580">
            <a:off x="-5" y="1033462"/>
            <a:ext cx="18288010" cy="0"/>
          </a:xfrm>
          <a:prstGeom prst="line">
            <a:avLst/>
          </a:prstGeom>
          <a:ln cap="flat" w="9525">
            <a:solidFill>
              <a:srgbClr val="2D3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-2464">
            <a:off x="2500925" y="5204853"/>
            <a:ext cx="13286149" cy="0"/>
          </a:xfrm>
          <a:prstGeom prst="line">
            <a:avLst/>
          </a:prstGeom>
          <a:ln cap="flat" w="9525">
            <a:solidFill>
              <a:srgbClr val="2D3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2500927" y="7168631"/>
            <a:ext cx="13286153" cy="0"/>
          </a:xfrm>
          <a:prstGeom prst="line">
            <a:avLst/>
          </a:prstGeom>
          <a:ln cap="flat" w="9525">
            <a:solidFill>
              <a:srgbClr val="2D3E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14092" y="3194072"/>
            <a:ext cx="16859816" cy="158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68"/>
              </a:lnSpc>
            </a:pPr>
            <a:r>
              <a:rPr lang="en-US" sz="8834">
                <a:solidFill>
                  <a:srgbClr val="2D3E70"/>
                </a:solidFill>
                <a:latin typeface="Boston Angel"/>
                <a:ea typeface="Boston Angel"/>
                <a:cs typeface="Boston Angel"/>
                <a:sym typeface="Boston Angel"/>
              </a:rPr>
              <a:t>わたしは きょうとへ いきます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0070" y="9600248"/>
            <a:ext cx="4689230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0927" y="6160506"/>
            <a:ext cx="1326141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2D3E7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BAB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8603" y="539534"/>
            <a:ext cx="3176216" cy="595589"/>
            <a:chOff x="0" y="0"/>
            <a:chExt cx="4234955" cy="7941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34942" cy="794131"/>
            </a:xfrm>
            <a:custGeom>
              <a:avLst/>
              <a:gdLst/>
              <a:ahLst/>
              <a:cxnLst/>
              <a:rect r="r" b="b" t="t" l="l"/>
              <a:pathLst>
                <a:path h="794131" w="4234942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102608" y="0"/>
                  </a:lnTo>
                  <a:cubicBezTo>
                    <a:pt x="4175760" y="0"/>
                    <a:pt x="4234942" y="59309"/>
                    <a:pt x="4234942" y="132334"/>
                  </a:cubicBezTo>
                  <a:lnTo>
                    <a:pt x="4234942" y="661797"/>
                  </a:lnTo>
                  <a:cubicBezTo>
                    <a:pt x="4234942" y="734949"/>
                    <a:pt x="4175633" y="794131"/>
                    <a:pt x="4102608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EEF2FF"/>
            </a:solidFill>
            <a:ln w="19065" cap="sq">
              <a:solidFill>
                <a:srgbClr val="E11D4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234955" cy="794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E11D48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BAB 5 • POLA 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93939" y="1019175"/>
            <a:ext cx="5113961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2"/>
              </a:lnSpc>
            </a:pPr>
            <a:r>
              <a:rPr lang="en-US" sz="6252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～へ</a:t>
            </a:r>
            <a:r>
              <a:rPr lang="en-US" sz="6252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 行きます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7563" y="2678550"/>
            <a:ext cx="1424712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2"/>
              </a:lnSpc>
            </a:pPr>
            <a:r>
              <a:rPr lang="en-US" sz="6252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Subjek は + Tempat + へ</a:t>
            </a:r>
            <a:r>
              <a:rPr lang="en-US" sz="6252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 + いきます.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53150" y="1924050"/>
            <a:ext cx="5815950" cy="45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8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Menunjukk</a:t>
            </a:r>
            <a:r>
              <a:rPr lang="en-US" sz="2648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an arah atau tujuan pergi.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3038" y="4157345"/>
            <a:ext cx="7123561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わたしは かいしゃへ いきます。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          Saya pergi ke perusahaan.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64819" y="5438775"/>
            <a:ext cx="1121929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2"/>
              </a:lnSpc>
            </a:pPr>
            <a:r>
              <a:rPr lang="en-US" sz="6252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Subjek は どこへ</a:t>
            </a:r>
            <a:r>
              <a:rPr lang="en-US" sz="6252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 いきますか。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86174" y="6343650"/>
            <a:ext cx="3115652" cy="45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8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Menanyakan tujuan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3038" y="7315249"/>
            <a:ext cx="7123561" cy="231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A: どこへ いきますか。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        </a:t>
            </a:r>
            <a:r>
              <a:rPr lang="en-US" sz="21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Pergi ke mana?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B: スーパーへ いきます。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          Saya pergi ke supermarket.</a:t>
            </a:r>
          </a:p>
          <a:p>
            <a:pPr algn="l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475908" y="2184796"/>
          <a:ext cx="15336184" cy="4495153"/>
        </p:xfrm>
        <a:graphic>
          <a:graphicData uri="http://schemas.openxmlformats.org/drawingml/2006/table">
            <a:tbl>
              <a:tblPr/>
              <a:tblGrid>
                <a:gridCol w="5112061"/>
                <a:gridCol w="5538436"/>
                <a:gridCol w="4685687"/>
              </a:tblGrid>
              <a:tr h="1047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KATA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ARTI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CONTOH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95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いきます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P</a:t>
                      </a:r>
                      <a:r>
                        <a:rPr lang="en-US" sz="25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ergi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8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かいしゃへ いきます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37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きます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Datang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かいしゃへ きます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47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か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えります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Pulang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4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うちへ かえります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970607" y="584192"/>
            <a:ext cx="16346786" cy="117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</a:t>
            </a:r>
            <a:r>
              <a:rPr lang="en-US" b="true" sz="6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bedaan 行きます・来ます・帰ります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5908" y="7059931"/>
            <a:ext cx="15336184" cy="219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いきます → menjauh dari posisi pembicara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きます → menuju tempat pembicara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かえります → kembali/pulang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4945" y="433111"/>
            <a:ext cx="3176216" cy="595589"/>
            <a:chOff x="0" y="0"/>
            <a:chExt cx="4234955" cy="7941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34942" cy="794131"/>
            </a:xfrm>
            <a:custGeom>
              <a:avLst/>
              <a:gdLst/>
              <a:ahLst/>
              <a:cxnLst/>
              <a:rect r="r" b="b" t="t" l="l"/>
              <a:pathLst>
                <a:path h="794131" w="4234942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102608" y="0"/>
                  </a:lnTo>
                  <a:cubicBezTo>
                    <a:pt x="4175760" y="0"/>
                    <a:pt x="4234942" y="59309"/>
                    <a:pt x="4234942" y="132334"/>
                  </a:cubicBezTo>
                  <a:lnTo>
                    <a:pt x="4234942" y="661797"/>
                  </a:lnTo>
                  <a:cubicBezTo>
                    <a:pt x="4234942" y="734949"/>
                    <a:pt x="4175633" y="794131"/>
                    <a:pt x="4102608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EEF2FF"/>
            </a:solidFill>
            <a:ln w="19065" cap="sq">
              <a:solidFill>
                <a:srgbClr val="E11D4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234955" cy="794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E11D48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BAB 5 • POLA 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419437" y="1866438"/>
            <a:ext cx="1377503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2"/>
              </a:lnSpc>
            </a:pPr>
            <a:r>
              <a:rPr lang="en-US" sz="6252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Subjek は + Tempat + へ + きます。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6336" y="3609051"/>
            <a:ext cx="8260619" cy="109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9994" indent="-389997" lvl="1">
              <a:lnSpc>
                <a:spcPts val="5057"/>
              </a:lnSpc>
              <a:buFont typeface="Arial"/>
              <a:buChar char="•"/>
            </a:pPr>
            <a:r>
              <a:rPr lang="en-US" sz="3612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あでるさんは にほんへ きました。</a:t>
            </a:r>
          </a:p>
          <a:p>
            <a:pPr algn="ctr">
              <a:lnSpc>
                <a:spcPts val="3709"/>
              </a:lnSpc>
            </a:pPr>
            <a:r>
              <a:rPr lang="en-US" sz="2649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          Adel sudah pergi ke Jepang.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83053" y="5610228"/>
            <a:ext cx="1508916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2"/>
              </a:lnSpc>
            </a:pPr>
            <a:r>
              <a:rPr lang="en-US" sz="6252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Subjek は + Tempat + へ + かえります。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10575" y="7673161"/>
            <a:ext cx="3392760" cy="45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8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Saya pulang kerumah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6954" y="3609051"/>
            <a:ext cx="8260619" cy="109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9994" indent="-389997" lvl="1">
              <a:lnSpc>
                <a:spcPts val="5057"/>
              </a:lnSpc>
              <a:buFont typeface="Arial"/>
              <a:buChar char="•"/>
            </a:pPr>
            <a:r>
              <a:rPr lang="en-US" sz="3612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せんせいは かいしゃへ きます。</a:t>
            </a:r>
          </a:p>
          <a:p>
            <a:pPr algn="ctr">
              <a:lnSpc>
                <a:spcPts val="3709"/>
              </a:lnSpc>
            </a:pPr>
            <a:r>
              <a:rPr lang="en-US" sz="2649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Sensei datang ke perusahaan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53162" y="6783475"/>
            <a:ext cx="8548946" cy="114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7219" indent="-403610" lvl="1">
              <a:lnSpc>
                <a:spcPts val="5234"/>
              </a:lnSpc>
              <a:buFont typeface="Arial"/>
              <a:buChar char="•"/>
            </a:pPr>
            <a:r>
              <a:rPr lang="en-US" sz="3738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わたしは うちへ かえります。</a:t>
            </a:r>
          </a:p>
          <a:p>
            <a:pPr algn="ctr">
              <a:lnSpc>
                <a:spcPts val="3838"/>
              </a:lnSpc>
            </a:pPr>
            <a:r>
              <a:rPr lang="en-US" sz="274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4945" y="433111"/>
            <a:ext cx="3176216" cy="595589"/>
            <a:chOff x="0" y="0"/>
            <a:chExt cx="4234955" cy="7941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34942" cy="794131"/>
            </a:xfrm>
            <a:custGeom>
              <a:avLst/>
              <a:gdLst/>
              <a:ahLst/>
              <a:cxnLst/>
              <a:rect r="r" b="b" t="t" l="l"/>
              <a:pathLst>
                <a:path h="794131" w="4234942">
                  <a:moveTo>
                    <a:pt x="0" y="132334"/>
                  </a:moveTo>
                  <a:cubicBezTo>
                    <a:pt x="0" y="59309"/>
                    <a:pt x="59309" y="0"/>
                    <a:pt x="132334" y="0"/>
                  </a:cubicBezTo>
                  <a:lnTo>
                    <a:pt x="4102608" y="0"/>
                  </a:lnTo>
                  <a:cubicBezTo>
                    <a:pt x="4175760" y="0"/>
                    <a:pt x="4234942" y="59309"/>
                    <a:pt x="4234942" y="132334"/>
                  </a:cubicBezTo>
                  <a:lnTo>
                    <a:pt x="4234942" y="661797"/>
                  </a:lnTo>
                  <a:cubicBezTo>
                    <a:pt x="4234942" y="734949"/>
                    <a:pt x="4175633" y="794131"/>
                    <a:pt x="4102608" y="794131"/>
                  </a:cubicBezTo>
                  <a:lnTo>
                    <a:pt x="132334" y="794131"/>
                  </a:lnTo>
                  <a:cubicBezTo>
                    <a:pt x="59309" y="794131"/>
                    <a:pt x="0" y="734822"/>
                    <a:pt x="0" y="661797"/>
                  </a:cubicBezTo>
                  <a:close/>
                </a:path>
              </a:pathLst>
            </a:custGeom>
            <a:solidFill>
              <a:srgbClr val="EEF2FF"/>
            </a:solidFill>
            <a:ln w="19065" cap="sq">
              <a:solidFill>
                <a:srgbClr val="E11D4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234955" cy="794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E11D48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BAB 5 • POLA 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63403" y="542925"/>
            <a:ext cx="1377503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2"/>
              </a:lnSpc>
            </a:pPr>
            <a:r>
              <a:rPr lang="en-US" sz="6252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Alat Transportasi + で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53044" y="1673827"/>
            <a:ext cx="9781912" cy="48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</a:pPr>
            <a:r>
              <a:rPr lang="en-US" sz="2923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で digun</a:t>
            </a:r>
            <a:r>
              <a:rPr lang="en-US" sz="2923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akan untuk menunjukkan alat/cara transportasi.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68027"/>
            <a:ext cx="1544344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1"/>
              </a:lnSpc>
            </a:pPr>
            <a:r>
              <a:rPr lang="en-US" sz="4543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Subjek は + Kendaraan + で + Tempat + へ + いきます。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9676" y="3696702"/>
            <a:ext cx="8627368" cy="6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3658" indent="-396829" lvl="1">
              <a:lnSpc>
                <a:spcPts val="5146"/>
              </a:lnSpc>
              <a:buFont typeface="Arial"/>
              <a:buChar char="•"/>
            </a:pPr>
            <a:r>
              <a:rPr lang="en-US" sz="3676" u="sng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わたし</a:t>
            </a:r>
            <a:r>
              <a:rPr lang="en-US" sz="3676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は </a:t>
            </a:r>
            <a:r>
              <a:rPr lang="en-US" sz="3676" u="sng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バス</a:t>
            </a:r>
            <a:r>
              <a:rPr lang="en-US" sz="3676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で</a:t>
            </a:r>
            <a:r>
              <a:rPr lang="en-US" sz="3676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76" u="sng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かいしゃ</a:t>
            </a:r>
            <a:r>
              <a:rPr lang="en-US" sz="3676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へ いきます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83053" y="4489156"/>
            <a:ext cx="6673561" cy="48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</a:pPr>
            <a:r>
              <a:rPr lang="en-US" sz="2923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23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aya pergi ke perusahaan dengan bus.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9676" y="5683355"/>
            <a:ext cx="1544344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1"/>
              </a:lnSpc>
            </a:pPr>
            <a:r>
              <a:rPr lang="en-US" sz="4543" b="true">
                <a:solidFill>
                  <a:srgbClr val="0F172A"/>
                </a:solidFill>
                <a:latin typeface="Segoe UI Bold"/>
                <a:ea typeface="Segoe UI Bold"/>
                <a:cs typeface="Segoe UI Bold"/>
                <a:sym typeface="Segoe UI Bold"/>
              </a:rPr>
              <a:t>なんで + Tempat + へ + いきますか。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71754" y="6531080"/>
            <a:ext cx="6579288" cy="48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</a:pPr>
            <a:r>
              <a:rPr lang="en-US" sz="2923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Pergi </a:t>
            </a:r>
            <a:r>
              <a:rPr lang="en-US" sz="2923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ke tempat tersebut dengan apa?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5592" y="7521319"/>
            <a:ext cx="6819900" cy="6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6"/>
              </a:lnSpc>
            </a:pPr>
            <a:r>
              <a:rPr lang="en-US" sz="3676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A: なんで にほんへ いきますか。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5592" y="8643211"/>
            <a:ext cx="5291138" cy="62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6"/>
              </a:lnSpc>
            </a:pPr>
            <a:r>
              <a:rPr lang="en-US" sz="3676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B: ひこうきで いきます。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DAHWigxchXA</dc:identifier>
  <dcterms:modified xsi:type="dcterms:W3CDTF">2011-08-01T06:04:30Z</dcterms:modified>
  <cp:revision>1</cp:revision>
  <dc:title>PPT BULAN 2</dc:title>
</cp:coreProperties>
</file>
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mbria Bold" charset="1" panose="02040803050406030204"/>
      <p:regular r:id="rId17"/>
    </p:embeddedFont>
    <p:embeddedFont>
      <p:font typeface="Cambria" charset="1" panose="02040503050406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738215"/>
            <a:ext cx="18288000" cy="3761566"/>
            <a:chOff x="0" y="0"/>
            <a:chExt cx="4816593" cy="99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90700"/>
            </a:xfrm>
            <a:custGeom>
              <a:avLst/>
              <a:gdLst/>
              <a:ahLst/>
              <a:cxnLst/>
              <a:rect r="r" b="b" t="t" l="l"/>
              <a:pathLst>
                <a:path h="990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90700"/>
                  </a:lnTo>
                  <a:lnTo>
                    <a:pt x="0" y="990700"/>
                  </a:ln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104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89785" y="5561598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85725" y="5561598"/>
            <a:ext cx="5588000" cy="4114800"/>
          </a:xfrm>
          <a:custGeom>
            <a:avLst/>
            <a:gdLst/>
            <a:ahLst/>
            <a:cxnLst/>
            <a:rect r="r" b="b" t="t" l="l"/>
            <a:pathLst>
              <a:path h="4114800" w="5588000">
                <a:moveTo>
                  <a:pt x="5588000" y="0"/>
                </a:moveTo>
                <a:lnTo>
                  <a:pt x="0" y="0"/>
                </a:lnTo>
                <a:lnTo>
                  <a:pt x="0" y="4114800"/>
                </a:lnTo>
                <a:lnTo>
                  <a:pt x="5588000" y="4114800"/>
                </a:lnTo>
                <a:lnTo>
                  <a:pt x="55880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11585" y="6689095"/>
            <a:ext cx="6264830" cy="3098243"/>
          </a:xfrm>
          <a:custGeom>
            <a:avLst/>
            <a:gdLst/>
            <a:ahLst/>
            <a:cxnLst/>
            <a:rect r="r" b="b" t="t" l="l"/>
            <a:pathLst>
              <a:path h="3098243" w="6264830">
                <a:moveTo>
                  <a:pt x="0" y="0"/>
                </a:moveTo>
                <a:lnTo>
                  <a:pt x="6264830" y="0"/>
                </a:lnTo>
                <a:lnTo>
                  <a:pt x="6264830" y="3098243"/>
                </a:lnTo>
                <a:lnTo>
                  <a:pt x="0" y="3098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1827077"/>
            <a:ext cx="18288000" cy="20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0"/>
              </a:lnSpc>
              <a:spcBef>
                <a:spcPct val="0"/>
              </a:spcBef>
            </a:pPr>
            <a:r>
              <a:rPr lang="en-US" b="true" sz="12064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ACTIVITY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4631" y="3641758"/>
            <a:ext cx="15042696" cy="77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sz="447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Pengembangan Aplikasi MAP-IN Talent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AD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3603" y="111125"/>
            <a:ext cx="10020696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LATAR BELAKANG &amp; TUJUAN APLIKASI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10060" y="2425756"/>
            <a:ext cx="7254181" cy="7267395"/>
          </a:xfrm>
          <a:custGeom>
            <a:avLst/>
            <a:gdLst/>
            <a:ahLst/>
            <a:cxnLst/>
            <a:rect r="r" b="b" t="t" l="l"/>
            <a:pathLst>
              <a:path h="7267395" w="7254181">
                <a:moveTo>
                  <a:pt x="0" y="0"/>
                </a:moveTo>
                <a:lnTo>
                  <a:pt x="7254182" y="0"/>
                </a:lnTo>
                <a:lnTo>
                  <a:pt x="7254182" y="7267394"/>
                </a:lnTo>
                <a:lnTo>
                  <a:pt x="0" y="7267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8023" y="2496200"/>
            <a:ext cx="6698257" cy="126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9"/>
              </a:lnSpc>
              <a:spcBef>
                <a:spcPct val="0"/>
              </a:spcBef>
            </a:pPr>
            <a:r>
              <a:rPr lang="en-US" b="true" sz="3578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Mengapa aplikasi talent management ini dibangun?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59814" y="1938252"/>
            <a:ext cx="502155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Latar belakang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59814" y="5124682"/>
            <a:ext cx="551008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Tujuan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75289" y="5839057"/>
            <a:ext cx="9258267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Membangun aplikasi website yang menyatukan profil individu, riwayat karir, talent snapshot, rencana karir, suksesi, gap kompetensi, IDP, review tahunan, dan pelatihan/sertifikasi dalam 9 tab.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75289" y="2671445"/>
            <a:ext cx="9258267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talenta karyawan seperti profil, riwayat karir, penilaian potensi, suksesi, dan rencana pengembangan perlu dikelola secara terpusat dan mengacu pada standar yang sama.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Aplikasi website ini menjadi wadah tunggal bagi HR dan manajemen untuk memantau dan mengembangkan talenta.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259764" y="1532111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59814" y="7911062"/>
            <a:ext cx="7694654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Standar acuan yang dianalisis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33968" y="8552413"/>
            <a:ext cx="49704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Katalog Kompetensi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Format POTASS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89550" y="8552413"/>
            <a:ext cx="37697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16 HAV Box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IDP 70-20-10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14927"/>
            <a:ext cx="18288000" cy="872073"/>
            <a:chOff x="0" y="0"/>
            <a:chExt cx="4816593" cy="2296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29682"/>
            </a:xfrm>
            <a:custGeom>
              <a:avLst/>
              <a:gdLst/>
              <a:ahLst/>
              <a:cxnLst/>
              <a:rect r="r" b="b" t="t" l="l"/>
              <a:pathLst>
                <a:path h="2296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9682"/>
                  </a:lnTo>
                  <a:lnTo>
                    <a:pt x="0" y="229682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86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215648"/>
            <a:ext cx="18288000" cy="10012680"/>
          </a:xfrm>
          <a:custGeom>
            <a:avLst/>
            <a:gdLst/>
            <a:ahLst/>
            <a:cxnLst/>
            <a:rect r="r" b="b" t="t" l="l"/>
            <a:pathLst>
              <a:path h="10012680" w="18288000">
                <a:moveTo>
                  <a:pt x="0" y="0"/>
                </a:moveTo>
                <a:lnTo>
                  <a:pt x="18288000" y="0"/>
                </a:lnTo>
                <a:lnTo>
                  <a:pt x="18288000" y="10012680"/>
                </a:lnTo>
                <a:lnTo>
                  <a:pt x="0" y="10012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AD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726278" y="1771650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2538" y="2920010"/>
            <a:ext cx="7287894" cy="5429481"/>
          </a:xfrm>
          <a:custGeom>
            <a:avLst/>
            <a:gdLst/>
            <a:ahLst/>
            <a:cxnLst/>
            <a:rect r="r" b="b" t="t" l="l"/>
            <a:pathLst>
              <a:path h="5429481" w="7287894">
                <a:moveTo>
                  <a:pt x="0" y="0"/>
                </a:moveTo>
                <a:lnTo>
                  <a:pt x="7287895" y="0"/>
                </a:lnTo>
                <a:lnTo>
                  <a:pt x="7287895" y="5429481"/>
                </a:lnTo>
                <a:lnTo>
                  <a:pt x="0" y="5429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23357" y="2757326"/>
            <a:ext cx="3070191" cy="2993436"/>
          </a:xfrm>
          <a:custGeom>
            <a:avLst/>
            <a:gdLst/>
            <a:ahLst/>
            <a:cxnLst/>
            <a:rect r="r" b="b" t="t" l="l"/>
            <a:pathLst>
              <a:path h="2993436" w="3070191">
                <a:moveTo>
                  <a:pt x="0" y="0"/>
                </a:moveTo>
                <a:lnTo>
                  <a:pt x="3070191" y="0"/>
                </a:lnTo>
                <a:lnTo>
                  <a:pt x="3070191" y="2993436"/>
                </a:lnTo>
                <a:lnTo>
                  <a:pt x="0" y="2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64403" y="6729986"/>
            <a:ext cx="2877865" cy="3094478"/>
          </a:xfrm>
          <a:custGeom>
            <a:avLst/>
            <a:gdLst/>
            <a:ahLst/>
            <a:cxnLst/>
            <a:rect r="r" b="b" t="t" l="l"/>
            <a:pathLst>
              <a:path h="3094478" w="2877865">
                <a:moveTo>
                  <a:pt x="0" y="0"/>
                </a:moveTo>
                <a:lnTo>
                  <a:pt x="2877865" y="0"/>
                </a:lnTo>
                <a:lnTo>
                  <a:pt x="2877865" y="3094478"/>
                </a:lnTo>
                <a:lnTo>
                  <a:pt x="0" y="30944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3603" y="190500"/>
            <a:ext cx="7272677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1. PENGUMPULAN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2538" y="8512175"/>
            <a:ext cx="7033549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Minimal 3x sesi wawancara serta dokumen standar dikumpulkan dan dianalisis.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62015" y="2223926"/>
            <a:ext cx="625386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Wawancara dengan Stakeholder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6957" y="6022557"/>
            <a:ext cx="551008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Kelengkapan Dokumen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2352" y="6829425"/>
            <a:ext cx="376975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Katalog Kompetensi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Format POTASS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04357" y="7813675"/>
            <a:ext cx="376975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16 HAV Box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IDP 70-20-10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84272" y="1133475"/>
            <a:ext cx="342347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W1 - Okt W2)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3603" y="2177060"/>
            <a:ext cx="841596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1. </a:t>
            </a: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Wawancara dan Pengumpulan Dokumen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30668" y="3900326"/>
            <a:ext cx="1316558" cy="102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04357" y="8728075"/>
            <a:ext cx="376975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Dokumen Lainnya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AD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789858" y="1771650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5595" y="3277465"/>
            <a:ext cx="3828435" cy="3828435"/>
          </a:xfrm>
          <a:custGeom>
            <a:avLst/>
            <a:gdLst/>
            <a:ahLst/>
            <a:cxnLst/>
            <a:rect r="r" b="b" t="t" l="l"/>
            <a:pathLst>
              <a:path h="3828435" w="3828435">
                <a:moveTo>
                  <a:pt x="0" y="0"/>
                </a:moveTo>
                <a:lnTo>
                  <a:pt x="3828435" y="0"/>
                </a:lnTo>
                <a:lnTo>
                  <a:pt x="3828435" y="3828435"/>
                </a:lnTo>
                <a:lnTo>
                  <a:pt x="0" y="3828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390227" y="3328220"/>
            <a:ext cx="3412064" cy="3770236"/>
          </a:xfrm>
          <a:custGeom>
            <a:avLst/>
            <a:gdLst/>
            <a:ahLst/>
            <a:cxnLst/>
            <a:rect r="r" b="b" t="t" l="l"/>
            <a:pathLst>
              <a:path h="3770236" w="3412064">
                <a:moveTo>
                  <a:pt x="0" y="0"/>
                </a:moveTo>
                <a:lnTo>
                  <a:pt x="3412064" y="0"/>
                </a:lnTo>
                <a:lnTo>
                  <a:pt x="3412064" y="3770236"/>
                </a:lnTo>
                <a:lnTo>
                  <a:pt x="0" y="3770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1353595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199861" y="3178175"/>
            <a:ext cx="4623371" cy="4114800"/>
          </a:xfrm>
          <a:custGeom>
            <a:avLst/>
            <a:gdLst/>
            <a:ahLst/>
            <a:cxnLst/>
            <a:rect r="r" b="b" t="t" l="l"/>
            <a:pathLst>
              <a:path h="4114800" w="4623371">
                <a:moveTo>
                  <a:pt x="0" y="0"/>
                </a:moveTo>
                <a:lnTo>
                  <a:pt x="4623371" y="0"/>
                </a:lnTo>
                <a:lnTo>
                  <a:pt x="46233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3603" y="190500"/>
            <a:ext cx="7272677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2 – 4. PERANCANGAN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3167" y="7235825"/>
            <a:ext cx="489152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 Dokumen SRS Final Disetujui Stakeholder.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55330" y="1095375"/>
            <a:ext cx="727267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W2 - Nov W3)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7928" y="2048740"/>
            <a:ext cx="53533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2. Penyusunan Dokumen SRS (Blue Print Website)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3167" y="8626475"/>
            <a:ext cx="489152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SRS final disetujui stakeholder, arsitektur project.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8403" y="3824128"/>
            <a:ext cx="133917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W2 - Okt W4)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89455" y="3824128"/>
            <a:ext cx="1116393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W4 - Nov W1)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89455" y="2290601"/>
            <a:ext cx="47033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3. Design Database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95350" y="7235825"/>
            <a:ext cx="489152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embuatan tabel database dan diagram alur bisnis.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95350" y="8626475"/>
            <a:ext cx="489152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Database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berhasil dibuat berdasarkan SRS.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28007" y="3824128"/>
            <a:ext cx="1496825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W1 - Nov W3)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90052" y="2290601"/>
            <a:ext cx="650969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4. Perancangan Halaman Website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28485" y="7235825"/>
            <a:ext cx="5994747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embuatan esign awal halaman website.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28485" y="8626475"/>
            <a:ext cx="596087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desain wireframe awal berdasarkan SRS.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AD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313603" y="190500"/>
            <a:ext cx="749713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5 – 8. DEVELOPMENT 4 TAHAP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898" y="3969452"/>
            <a:ext cx="3936370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1: Profil Individu lengkap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</a:t>
            </a: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2: Riwayat Karir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</a:t>
            </a: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3: Talent Snapshot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5422" y="1176491"/>
            <a:ext cx="727267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Jan W1)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9029" y="2413702"/>
            <a:ext cx="352611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5. Development Tahap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2099" y="3394777"/>
            <a:ext cx="330562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W3)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55373" y="3969452"/>
            <a:ext cx="3936370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4: Individual Career Plan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</a:t>
            </a: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5: •Status Suksesi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</a:t>
            </a: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6: Analisis Gap Kompetensi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60503" y="2413702"/>
            <a:ext cx="352611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6. Development Tahap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8290" y="3394777"/>
            <a:ext cx="330562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W4)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9101" y="3969452"/>
            <a:ext cx="4107820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7: •Individual Development Plan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</a:t>
            </a: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8: •Review Tahunan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</a:t>
            </a: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9: Pelatihan / Sertifikasi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5788" y="2413702"/>
            <a:ext cx="352611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7. Development Tahap 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91513" y="3394777"/>
            <a:ext cx="330562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W4)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52989" y="3969452"/>
            <a:ext cx="39363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Fitur Tambahan (Jika ada)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01189" y="2413702"/>
            <a:ext cx="352611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8. Development Tahap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68360" y="3394777"/>
            <a:ext cx="330562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Jan W1)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1284" y="6702425"/>
            <a:ext cx="3977845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56499" y="6635750"/>
            <a:ext cx="3977845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96320" y="6635750"/>
            <a:ext cx="3977845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48870" y="6635750"/>
            <a:ext cx="3977845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Fitur Tambahan Jika ada dan sudah melakukan proses agile atau proses perbaikan per halaman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69029" y="2156524"/>
            <a:ext cx="17420330" cy="2577439"/>
            <a:chOff x="0" y="0"/>
            <a:chExt cx="3584430" cy="5303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84430" cy="530337"/>
            </a:xfrm>
            <a:custGeom>
              <a:avLst/>
              <a:gdLst/>
              <a:ahLst/>
              <a:cxnLst/>
              <a:rect r="r" b="b" t="t" l="l"/>
              <a:pathLst>
                <a:path h="530337" w="3584430">
                  <a:moveTo>
                    <a:pt x="8680" y="0"/>
                  </a:moveTo>
                  <a:lnTo>
                    <a:pt x="3575750" y="0"/>
                  </a:lnTo>
                  <a:cubicBezTo>
                    <a:pt x="3578052" y="0"/>
                    <a:pt x="3580260" y="915"/>
                    <a:pt x="3581888" y="2542"/>
                  </a:cubicBezTo>
                  <a:cubicBezTo>
                    <a:pt x="3583515" y="4170"/>
                    <a:pt x="3584430" y="6378"/>
                    <a:pt x="3584430" y="8680"/>
                  </a:cubicBezTo>
                  <a:lnTo>
                    <a:pt x="3584430" y="521657"/>
                  </a:lnTo>
                  <a:cubicBezTo>
                    <a:pt x="3584430" y="526451"/>
                    <a:pt x="3580544" y="530337"/>
                    <a:pt x="3575750" y="530337"/>
                  </a:cubicBezTo>
                  <a:lnTo>
                    <a:pt x="8680" y="530337"/>
                  </a:lnTo>
                  <a:cubicBezTo>
                    <a:pt x="3886" y="530337"/>
                    <a:pt x="0" y="526451"/>
                    <a:pt x="0" y="521657"/>
                  </a:cubicBezTo>
                  <a:lnTo>
                    <a:pt x="0" y="8680"/>
                  </a:lnTo>
                  <a:cubicBezTo>
                    <a:pt x="0" y="3886"/>
                    <a:pt x="3886" y="0"/>
                    <a:pt x="868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584430" cy="58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3603" y="190500"/>
            <a:ext cx="898850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9 –11. TEST, IMPLEMENTASI &amp; MONITORING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91743" y="1176491"/>
            <a:ext cx="342221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(Des W4 - Jan W4)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6651" y="2730519"/>
            <a:ext cx="402616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9. Test Aplikasi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5753" y="3352819"/>
            <a:ext cx="33056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(Des W4 - Jan W2)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69029" y="5010188"/>
            <a:ext cx="17485137" cy="2352592"/>
            <a:chOff x="0" y="0"/>
            <a:chExt cx="3597765" cy="484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7765" cy="484072"/>
            </a:xfrm>
            <a:custGeom>
              <a:avLst/>
              <a:gdLst/>
              <a:ahLst/>
              <a:cxnLst/>
              <a:rect r="r" b="b" t="t" l="l"/>
              <a:pathLst>
                <a:path h="484072" w="3597765">
                  <a:moveTo>
                    <a:pt x="8648" y="0"/>
                  </a:moveTo>
                  <a:lnTo>
                    <a:pt x="3589117" y="0"/>
                  </a:lnTo>
                  <a:cubicBezTo>
                    <a:pt x="3591411" y="0"/>
                    <a:pt x="3593610" y="911"/>
                    <a:pt x="3595232" y="2533"/>
                  </a:cubicBezTo>
                  <a:cubicBezTo>
                    <a:pt x="3596854" y="4155"/>
                    <a:pt x="3597765" y="6354"/>
                    <a:pt x="3597765" y="8648"/>
                  </a:cubicBezTo>
                  <a:lnTo>
                    <a:pt x="3597765" y="475425"/>
                  </a:lnTo>
                  <a:cubicBezTo>
                    <a:pt x="3597765" y="480201"/>
                    <a:pt x="3593893" y="484072"/>
                    <a:pt x="3589117" y="484072"/>
                  </a:cubicBezTo>
                  <a:lnTo>
                    <a:pt x="8648" y="484072"/>
                  </a:lnTo>
                  <a:cubicBezTo>
                    <a:pt x="6354" y="484072"/>
                    <a:pt x="4155" y="483161"/>
                    <a:pt x="2533" y="481540"/>
                  </a:cubicBezTo>
                  <a:cubicBezTo>
                    <a:pt x="911" y="479918"/>
                    <a:pt x="0" y="477718"/>
                    <a:pt x="0" y="475425"/>
                  </a:cubicBezTo>
                  <a:lnTo>
                    <a:pt x="0" y="8648"/>
                  </a:lnTo>
                  <a:cubicBezTo>
                    <a:pt x="0" y="6354"/>
                    <a:pt x="911" y="4155"/>
                    <a:pt x="2533" y="2533"/>
                  </a:cubicBezTo>
                  <a:cubicBezTo>
                    <a:pt x="4155" y="911"/>
                    <a:pt x="6354" y="0"/>
                    <a:pt x="864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597765" cy="541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9029" y="7636304"/>
            <a:ext cx="17420330" cy="2487238"/>
            <a:chOff x="0" y="0"/>
            <a:chExt cx="3584430" cy="5117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84430" cy="511777"/>
            </a:xfrm>
            <a:custGeom>
              <a:avLst/>
              <a:gdLst/>
              <a:ahLst/>
              <a:cxnLst/>
              <a:rect r="r" b="b" t="t" l="l"/>
              <a:pathLst>
                <a:path h="511777" w="3584430">
                  <a:moveTo>
                    <a:pt x="8680" y="0"/>
                  </a:moveTo>
                  <a:lnTo>
                    <a:pt x="3575750" y="0"/>
                  </a:lnTo>
                  <a:cubicBezTo>
                    <a:pt x="3578052" y="0"/>
                    <a:pt x="3580260" y="915"/>
                    <a:pt x="3581888" y="2542"/>
                  </a:cubicBezTo>
                  <a:cubicBezTo>
                    <a:pt x="3583515" y="4170"/>
                    <a:pt x="3584430" y="6378"/>
                    <a:pt x="3584430" y="8680"/>
                  </a:cubicBezTo>
                  <a:lnTo>
                    <a:pt x="3584430" y="503097"/>
                  </a:lnTo>
                  <a:cubicBezTo>
                    <a:pt x="3584430" y="507891"/>
                    <a:pt x="3580544" y="511777"/>
                    <a:pt x="3575750" y="511777"/>
                  </a:cubicBezTo>
                  <a:lnTo>
                    <a:pt x="8680" y="511777"/>
                  </a:lnTo>
                  <a:cubicBezTo>
                    <a:pt x="3886" y="511777"/>
                    <a:pt x="0" y="507891"/>
                    <a:pt x="0" y="503097"/>
                  </a:cubicBezTo>
                  <a:lnTo>
                    <a:pt x="0" y="8680"/>
                  </a:lnTo>
                  <a:cubicBezTo>
                    <a:pt x="0" y="3886"/>
                    <a:pt x="3886" y="0"/>
                    <a:pt x="868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584430" cy="568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439727" y="3035539"/>
            <a:ext cx="356489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Sistem Aplikasi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1152" y="5534063"/>
            <a:ext cx="712285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10. Implementasi Di Localhost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64472" y="6153188"/>
            <a:ext cx="33056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W1 - Jan W3)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1152" y="8162880"/>
            <a:ext cx="558168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11. Monitoring Aplikasi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4472" y="8785181"/>
            <a:ext cx="33056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W2 - Jan W4)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91743" y="2282844"/>
            <a:ext cx="27160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name="AutoShape 29" id="29"/>
          <p:cNvSpPr/>
          <p:nvPr/>
        </p:nvSpPr>
        <p:spPr>
          <a:xfrm>
            <a:off x="8200907" y="2156524"/>
            <a:ext cx="0" cy="7967018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2357048" y="2156524"/>
            <a:ext cx="0" cy="8015978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3841033" y="2282844"/>
            <a:ext cx="27160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10997" y="3013460"/>
            <a:ext cx="471615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48557" y="6001008"/>
            <a:ext cx="39363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sistem aplikasi di localhost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00574" y="5248313"/>
            <a:ext cx="27160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49863" y="5248313"/>
            <a:ext cx="27160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19827" y="5978929"/>
            <a:ext cx="471615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420677" y="8437234"/>
            <a:ext cx="3793281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Perbaikan jika ditemukan kesalahan/bug pada aplikasi website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800574" y="7877130"/>
            <a:ext cx="27160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49863" y="7877130"/>
            <a:ext cx="27160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19827" y="8607746"/>
            <a:ext cx="471615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69029" y="2156524"/>
            <a:ext cx="5648866" cy="7967018"/>
            <a:chOff x="0" y="0"/>
            <a:chExt cx="1162318" cy="1639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2318" cy="1639304"/>
            </a:xfrm>
            <a:custGeom>
              <a:avLst/>
              <a:gdLst/>
              <a:ahLst/>
              <a:cxnLst/>
              <a:rect r="r" b="b" t="t" l="l"/>
              <a:pathLst>
                <a:path h="1639304" w="1162318">
                  <a:moveTo>
                    <a:pt x="26768" y="0"/>
                  </a:moveTo>
                  <a:lnTo>
                    <a:pt x="1135550" y="0"/>
                  </a:lnTo>
                  <a:cubicBezTo>
                    <a:pt x="1150334" y="0"/>
                    <a:pt x="1162318" y="11984"/>
                    <a:pt x="1162318" y="26768"/>
                  </a:cubicBezTo>
                  <a:lnTo>
                    <a:pt x="1162318" y="1612536"/>
                  </a:lnTo>
                  <a:cubicBezTo>
                    <a:pt x="1162318" y="1627319"/>
                    <a:pt x="1150334" y="1639304"/>
                    <a:pt x="1135550" y="1639304"/>
                  </a:cubicBezTo>
                  <a:lnTo>
                    <a:pt x="26768" y="1639304"/>
                  </a:lnTo>
                  <a:cubicBezTo>
                    <a:pt x="11984" y="1639304"/>
                    <a:pt x="0" y="1627319"/>
                    <a:pt x="0" y="1612536"/>
                  </a:cubicBezTo>
                  <a:lnTo>
                    <a:pt x="0" y="26768"/>
                  </a:lnTo>
                  <a:cubicBezTo>
                    <a:pt x="0" y="11984"/>
                    <a:pt x="11984" y="0"/>
                    <a:pt x="2676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162318" cy="1696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12841" y="2156524"/>
            <a:ext cx="5578606" cy="7967018"/>
            <a:chOff x="0" y="0"/>
            <a:chExt cx="1147861" cy="16393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7861" cy="1639304"/>
            </a:xfrm>
            <a:custGeom>
              <a:avLst/>
              <a:gdLst/>
              <a:ahLst/>
              <a:cxnLst/>
              <a:rect r="r" b="b" t="t" l="l"/>
              <a:pathLst>
                <a:path h="1639304" w="1147861">
                  <a:moveTo>
                    <a:pt x="27105" y="0"/>
                  </a:moveTo>
                  <a:lnTo>
                    <a:pt x="1120756" y="0"/>
                  </a:lnTo>
                  <a:cubicBezTo>
                    <a:pt x="1135726" y="0"/>
                    <a:pt x="1147861" y="12135"/>
                    <a:pt x="1147861" y="27105"/>
                  </a:cubicBezTo>
                  <a:lnTo>
                    <a:pt x="1147861" y="1612199"/>
                  </a:lnTo>
                  <a:cubicBezTo>
                    <a:pt x="1147861" y="1619388"/>
                    <a:pt x="1145005" y="1626282"/>
                    <a:pt x="1139922" y="1631365"/>
                  </a:cubicBezTo>
                  <a:cubicBezTo>
                    <a:pt x="1134839" y="1636448"/>
                    <a:pt x="1127945" y="1639304"/>
                    <a:pt x="1120756" y="1639304"/>
                  </a:cubicBezTo>
                  <a:lnTo>
                    <a:pt x="27105" y="1639304"/>
                  </a:lnTo>
                  <a:cubicBezTo>
                    <a:pt x="12135" y="1639304"/>
                    <a:pt x="0" y="1627169"/>
                    <a:pt x="0" y="1612199"/>
                  </a:cubicBezTo>
                  <a:lnTo>
                    <a:pt x="0" y="27105"/>
                  </a:lnTo>
                  <a:cubicBezTo>
                    <a:pt x="0" y="19916"/>
                    <a:pt x="2856" y="13022"/>
                    <a:pt x="7939" y="7939"/>
                  </a:cubicBezTo>
                  <a:cubicBezTo>
                    <a:pt x="13022" y="2856"/>
                    <a:pt x="19916" y="0"/>
                    <a:pt x="27105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147861" cy="1696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28258" y="2156524"/>
            <a:ext cx="5461101" cy="7967018"/>
            <a:chOff x="0" y="0"/>
            <a:chExt cx="1123683" cy="16393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3683" cy="1639304"/>
            </a:xfrm>
            <a:custGeom>
              <a:avLst/>
              <a:gdLst/>
              <a:ahLst/>
              <a:cxnLst/>
              <a:rect r="r" b="b" t="t" l="l"/>
              <a:pathLst>
                <a:path h="1639304" w="1123683">
                  <a:moveTo>
                    <a:pt x="27688" y="0"/>
                  </a:moveTo>
                  <a:lnTo>
                    <a:pt x="1095995" y="0"/>
                  </a:lnTo>
                  <a:cubicBezTo>
                    <a:pt x="1103338" y="0"/>
                    <a:pt x="1110381" y="2917"/>
                    <a:pt x="1115573" y="8110"/>
                  </a:cubicBezTo>
                  <a:cubicBezTo>
                    <a:pt x="1120766" y="13302"/>
                    <a:pt x="1123683" y="20345"/>
                    <a:pt x="1123683" y="27688"/>
                  </a:cubicBezTo>
                  <a:lnTo>
                    <a:pt x="1123683" y="1611616"/>
                  </a:lnTo>
                  <a:cubicBezTo>
                    <a:pt x="1123683" y="1626907"/>
                    <a:pt x="1111287" y="1639304"/>
                    <a:pt x="1095995" y="1639304"/>
                  </a:cubicBezTo>
                  <a:lnTo>
                    <a:pt x="27688" y="1639304"/>
                  </a:lnTo>
                  <a:cubicBezTo>
                    <a:pt x="12397" y="1639304"/>
                    <a:pt x="0" y="1626907"/>
                    <a:pt x="0" y="1611616"/>
                  </a:cubicBezTo>
                  <a:lnTo>
                    <a:pt x="0" y="27688"/>
                  </a:lnTo>
                  <a:cubicBezTo>
                    <a:pt x="0" y="12397"/>
                    <a:pt x="12397" y="0"/>
                    <a:pt x="2768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23683" cy="1696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31152" y="4437790"/>
            <a:ext cx="3360526" cy="705710"/>
          </a:xfrm>
          <a:custGeom>
            <a:avLst/>
            <a:gdLst/>
            <a:ahLst/>
            <a:cxnLst/>
            <a:rect r="r" b="b" t="t" l="l"/>
            <a:pathLst>
              <a:path h="705710" w="3360526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13603" y="190500"/>
            <a:ext cx="898850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12 – 14. DEPLOYMENT SAMPAI SIAP DIGUNAKAN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68086" y="1124258"/>
            <a:ext cx="342221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6651" y="2730519"/>
            <a:ext cx="4026162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12. Deployment (Siap digunakan)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6051" y="5502679"/>
            <a:ext cx="330562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4500132"/>
            <a:ext cx="3108079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443" y="6082883"/>
            <a:ext cx="39363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Aplikasi dapat digunakan secara umum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9092" y="7092405"/>
            <a:ext cx="330562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6443" y="7718380"/>
            <a:ext cx="39363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Melakukan Deployment bersama tim.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960193" y="5215243"/>
            <a:ext cx="3360526" cy="705710"/>
          </a:xfrm>
          <a:custGeom>
            <a:avLst/>
            <a:gdLst/>
            <a:ahLst/>
            <a:cxnLst/>
            <a:rect r="r" b="b" t="t" l="l"/>
            <a:pathLst>
              <a:path h="705710" w="3360526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941558" y="2730519"/>
            <a:ext cx="4026162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13. Dokumentasi Penggunaan Website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00957" y="6205537"/>
            <a:ext cx="330562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22772" y="5291859"/>
            <a:ext cx="3108079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31349" y="6785742"/>
            <a:ext cx="39363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panduan untuk penggunaan website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23998" y="7795264"/>
            <a:ext cx="330562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31349" y="8421239"/>
            <a:ext cx="39363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dokumentasi untuk penggunaan website.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15372" y="2872223"/>
            <a:ext cx="4026162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14. Projek Website Siap Digunakan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2813700" y="5215243"/>
            <a:ext cx="3360526" cy="705710"/>
          </a:xfrm>
          <a:custGeom>
            <a:avLst/>
            <a:gdLst/>
            <a:ahLst/>
            <a:cxnLst/>
            <a:rect r="r" b="b" t="t" l="l"/>
            <a:pathLst>
              <a:path h="705710" w="3360526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997812" y="5281078"/>
            <a:ext cx="3108079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945072" y="6290538"/>
            <a:ext cx="330562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75464" y="6870742"/>
            <a:ext cx="39363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Sesi training pengguna selesai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68112" y="7880264"/>
            <a:ext cx="330562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75464" y="8506239"/>
            <a:ext cx="39363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dokumentasi untuk penggunaan website.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328258" y="2451151"/>
            <a:ext cx="5461101" cy="7005818"/>
            <a:chOff x="0" y="0"/>
            <a:chExt cx="1123683" cy="14415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3683" cy="1441526"/>
            </a:xfrm>
            <a:custGeom>
              <a:avLst/>
              <a:gdLst/>
              <a:ahLst/>
              <a:cxnLst/>
              <a:rect r="r" b="b" t="t" l="l"/>
              <a:pathLst>
                <a:path h="1441526" w="1123683">
                  <a:moveTo>
                    <a:pt x="27688" y="0"/>
                  </a:moveTo>
                  <a:lnTo>
                    <a:pt x="1095995" y="0"/>
                  </a:lnTo>
                  <a:cubicBezTo>
                    <a:pt x="1103338" y="0"/>
                    <a:pt x="1110381" y="2917"/>
                    <a:pt x="1115573" y="8110"/>
                  </a:cubicBezTo>
                  <a:cubicBezTo>
                    <a:pt x="1120766" y="13302"/>
                    <a:pt x="1123683" y="20345"/>
                    <a:pt x="1123683" y="27688"/>
                  </a:cubicBezTo>
                  <a:lnTo>
                    <a:pt x="1123683" y="1413838"/>
                  </a:lnTo>
                  <a:cubicBezTo>
                    <a:pt x="1123683" y="1429130"/>
                    <a:pt x="1111287" y="1441526"/>
                    <a:pt x="1095995" y="1441526"/>
                  </a:cubicBezTo>
                  <a:lnTo>
                    <a:pt x="27688" y="1441526"/>
                  </a:lnTo>
                  <a:cubicBezTo>
                    <a:pt x="12397" y="1441526"/>
                    <a:pt x="0" y="1429130"/>
                    <a:pt x="0" y="1413838"/>
                  </a:cubicBezTo>
                  <a:lnTo>
                    <a:pt x="0" y="27688"/>
                  </a:lnTo>
                  <a:cubicBezTo>
                    <a:pt x="0" y="12397"/>
                    <a:pt x="12397" y="0"/>
                    <a:pt x="2768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123683" cy="1498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32912" y="2451151"/>
            <a:ext cx="11995346" cy="7140087"/>
          </a:xfrm>
          <a:custGeom>
            <a:avLst/>
            <a:gdLst/>
            <a:ahLst/>
            <a:cxnLst/>
            <a:rect r="r" b="b" t="t" l="l"/>
            <a:pathLst>
              <a:path h="7140087" w="11995346">
                <a:moveTo>
                  <a:pt x="0" y="0"/>
                </a:moveTo>
                <a:lnTo>
                  <a:pt x="11995346" y="0"/>
                </a:lnTo>
                <a:lnTo>
                  <a:pt x="11995346" y="7140087"/>
                </a:lnTo>
                <a:lnTo>
                  <a:pt x="0" y="7140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9723" y="190500"/>
            <a:ext cx="806498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BEBAN KERJA MEMUNCAK DI NOV W3 - DES W4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44236" y="2649474"/>
            <a:ext cx="4667022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 aktivitas paralel di Nov W3, saat 4 tahap development dimulai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99726" y="5600700"/>
            <a:ext cx="4718165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Dari Nov W3 hingga Des W4 selalu ada minimal 4 aktivitas berjalan bersamaan, sehingga koordinasi tim dan pembagian tugas perlu dijaga.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9723" y="1886258"/>
            <a:ext cx="77922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Jumlah aktivitas (dari 14) yang berjalan bersamaan tiap minggu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3603" y="190500"/>
            <a:ext cx="749713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MONITORING PROGRES: PLAN VS ACTUAL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303" y="3656631"/>
            <a:ext cx="3936370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1: Profil Individu lengkap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</a:t>
            </a: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2: Riwayat Karir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</a:t>
            </a: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3: Talent Snapshot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55373" y="1339850"/>
            <a:ext cx="1222260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(Baris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Actual pada Excel diisi berkala untuk membandingkan rencana dengan realisasi)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9528" y="3607100"/>
            <a:ext cx="330562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W3)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962074" y="2181162"/>
            <a:ext cx="4064642" cy="4578413"/>
            <a:chOff x="0" y="0"/>
            <a:chExt cx="836346" cy="9420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6346" cy="942060"/>
            </a:xfrm>
            <a:custGeom>
              <a:avLst/>
              <a:gdLst/>
              <a:ahLst/>
              <a:cxnLst/>
              <a:rect r="r" b="b" t="t" l="l"/>
              <a:pathLst>
                <a:path h="942060" w="836346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60690" y="2181162"/>
            <a:ext cx="4064642" cy="4578413"/>
            <a:chOff x="0" y="0"/>
            <a:chExt cx="836346" cy="9420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6346" cy="942060"/>
            </a:xfrm>
            <a:custGeom>
              <a:avLst/>
              <a:gdLst/>
              <a:ahLst/>
              <a:cxnLst/>
              <a:rect r="r" b="b" t="t" l="l"/>
              <a:pathLst>
                <a:path h="942060" w="836346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50597" y="2181162"/>
            <a:ext cx="4064642" cy="4578413"/>
            <a:chOff x="0" y="0"/>
            <a:chExt cx="836346" cy="9420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6346" cy="942060"/>
            </a:xfrm>
            <a:custGeom>
              <a:avLst/>
              <a:gdLst/>
              <a:ahLst/>
              <a:cxnLst/>
              <a:rect r="r" b="b" t="t" l="l"/>
              <a:pathLst>
                <a:path h="942060" w="836346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4788" y="2181162"/>
            <a:ext cx="4064642" cy="4578413"/>
            <a:chOff x="0" y="0"/>
            <a:chExt cx="836346" cy="9420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6346" cy="942060"/>
            </a:xfrm>
            <a:custGeom>
              <a:avLst/>
              <a:gdLst/>
              <a:ahLst/>
              <a:cxnLst/>
              <a:rect r="r" b="b" t="t" l="l"/>
              <a:pathLst>
                <a:path h="942060" w="836346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4488" y="7302500"/>
            <a:ext cx="17852228" cy="2636938"/>
            <a:chOff x="0" y="0"/>
            <a:chExt cx="3673298" cy="5425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73298" cy="542580"/>
            </a:xfrm>
            <a:custGeom>
              <a:avLst/>
              <a:gdLst/>
              <a:ahLst/>
              <a:cxnLst/>
              <a:rect r="r" b="b" t="t" l="l"/>
              <a:pathLst>
                <a:path h="542580" w="3673298">
                  <a:moveTo>
                    <a:pt x="8470" y="0"/>
                  </a:moveTo>
                  <a:lnTo>
                    <a:pt x="3664828" y="0"/>
                  </a:lnTo>
                  <a:cubicBezTo>
                    <a:pt x="3667074" y="0"/>
                    <a:pt x="3669229" y="892"/>
                    <a:pt x="3670817" y="2481"/>
                  </a:cubicBezTo>
                  <a:cubicBezTo>
                    <a:pt x="3672406" y="4069"/>
                    <a:pt x="3673298" y="6224"/>
                    <a:pt x="3673298" y="8470"/>
                  </a:cubicBezTo>
                  <a:lnTo>
                    <a:pt x="3673298" y="534110"/>
                  </a:lnTo>
                  <a:cubicBezTo>
                    <a:pt x="3673298" y="536356"/>
                    <a:pt x="3672406" y="538510"/>
                    <a:pt x="3670817" y="540099"/>
                  </a:cubicBezTo>
                  <a:cubicBezTo>
                    <a:pt x="3669229" y="541687"/>
                    <a:pt x="3667074" y="542580"/>
                    <a:pt x="3664828" y="542580"/>
                  </a:cubicBezTo>
                  <a:lnTo>
                    <a:pt x="8470" y="542580"/>
                  </a:lnTo>
                  <a:cubicBezTo>
                    <a:pt x="6224" y="542580"/>
                    <a:pt x="4069" y="541687"/>
                    <a:pt x="2481" y="540099"/>
                  </a:cubicBezTo>
                  <a:cubicBezTo>
                    <a:pt x="892" y="538510"/>
                    <a:pt x="0" y="536356"/>
                    <a:pt x="0" y="534110"/>
                  </a:cubicBezTo>
                  <a:lnTo>
                    <a:pt x="0" y="8470"/>
                  </a:lnTo>
                  <a:cubicBezTo>
                    <a:pt x="0" y="6224"/>
                    <a:pt x="892" y="4069"/>
                    <a:pt x="2481" y="2481"/>
                  </a:cubicBezTo>
                  <a:cubicBezTo>
                    <a:pt x="4069" y="892"/>
                    <a:pt x="6224" y="0"/>
                    <a:pt x="847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673298" cy="599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7634" y="3875706"/>
            <a:ext cx="3169415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Jadwal rencana t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iap aktivit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as (sel biru di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Excel)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33153" y="3034029"/>
            <a:ext cx="621872" cy="621872"/>
          </a:xfrm>
          <a:custGeom>
            <a:avLst/>
            <a:gdLst/>
            <a:ahLst/>
            <a:cxnLst/>
            <a:rect r="r" b="b" t="t" l="l"/>
            <a:pathLst>
              <a:path h="621872" w="621872">
                <a:moveTo>
                  <a:pt x="0" y="0"/>
                </a:moveTo>
                <a:lnTo>
                  <a:pt x="621872" y="0"/>
                </a:lnTo>
                <a:lnTo>
                  <a:pt x="621872" y="621873"/>
                </a:lnTo>
                <a:lnTo>
                  <a:pt x="0" y="621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858650" y="2943524"/>
            <a:ext cx="1395918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PLAN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6665" y="3043855"/>
            <a:ext cx="23484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98690" y="3880485"/>
            <a:ext cx="316941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Realisas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 dii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si berkala di baris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Actual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5553343" y="3034029"/>
            <a:ext cx="621872" cy="621872"/>
          </a:xfrm>
          <a:custGeom>
            <a:avLst/>
            <a:gdLst/>
            <a:ahLst/>
            <a:cxnLst/>
            <a:rect r="r" b="b" t="t" l="l"/>
            <a:pathLst>
              <a:path h="621872" w="621872">
                <a:moveTo>
                  <a:pt x="0" y="0"/>
                </a:moveTo>
                <a:lnTo>
                  <a:pt x="621873" y="0"/>
                </a:lnTo>
                <a:lnTo>
                  <a:pt x="621873" y="621873"/>
                </a:lnTo>
                <a:lnTo>
                  <a:pt x="0" y="621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378840" y="2943524"/>
            <a:ext cx="2033652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ACTUAL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46855" y="3043855"/>
            <a:ext cx="23484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063437" y="3010628"/>
            <a:ext cx="621872" cy="621872"/>
          </a:xfrm>
          <a:custGeom>
            <a:avLst/>
            <a:gdLst/>
            <a:ahLst/>
            <a:cxnLst/>
            <a:rect r="r" b="b" t="t" l="l"/>
            <a:pathLst>
              <a:path h="621872" w="621872">
                <a:moveTo>
                  <a:pt x="0" y="0"/>
                </a:moveTo>
                <a:lnTo>
                  <a:pt x="621872" y="0"/>
                </a:lnTo>
                <a:lnTo>
                  <a:pt x="621872" y="621872"/>
                </a:lnTo>
                <a:lnTo>
                  <a:pt x="0" y="62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888934" y="2920123"/>
            <a:ext cx="2033652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REVIEW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56949" y="3020454"/>
            <a:ext cx="23484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39163" y="3935566"/>
            <a:ext cx="3169415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Bandingkan dev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iasi saat pert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emuan rutin (Selisih antara plan dan actual)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4573530" y="3010628"/>
            <a:ext cx="621872" cy="621872"/>
          </a:xfrm>
          <a:custGeom>
            <a:avLst/>
            <a:gdLst/>
            <a:ahLst/>
            <a:cxnLst/>
            <a:rect r="r" b="b" t="t" l="l"/>
            <a:pathLst>
              <a:path h="621872" w="621872">
                <a:moveTo>
                  <a:pt x="0" y="0"/>
                </a:moveTo>
                <a:lnTo>
                  <a:pt x="621873" y="0"/>
                </a:lnTo>
                <a:lnTo>
                  <a:pt x="621873" y="621872"/>
                </a:lnTo>
                <a:lnTo>
                  <a:pt x="0" y="62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5399027" y="2920123"/>
            <a:ext cx="2033652" cy="139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Tindak lanjut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67042" y="3020454"/>
            <a:ext cx="23484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49257" y="4413219"/>
            <a:ext cx="316941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Atur ulang 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priorit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as bila ada</a:t>
            </a: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keterlambatan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5924" y="8085704"/>
            <a:ext cx="1642727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SRS harus disetujui stakeholder sebelum tahap perancangan dan development berjalan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Nov W3 – Des W4: min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imal 4 aktivita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 berjalan paralel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Januari: test,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localhost, monitoring, deployment, dan dokumentasi bertumpuk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7427" y="7387203"/>
            <a:ext cx="726049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Titik kritis yang dipantau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497" y="3947073"/>
            <a:ext cx="17498862" cy="562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14 aktivitas dalam 16 minggu (Oktober–Januari), mencakup keseluruhan proses mulai dari pengumpulan data hingga training.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Berhasil mengembangkan 9 tab modul melalui 4 tahap development, dilengkapi fitur login, register, dan search.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Website siap digunakan, telah melalui tahap deployment, dokumentasi, dan sesi training pengguna.</a:t>
            </a:r>
          </a:p>
          <a:p>
            <a:pPr algn="just" marL="863595" indent="-431797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Proyek berjalan sesuai timeline dan target yang direncanakan sejak tahap awal.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0" y="1952933"/>
            <a:ext cx="1828800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933883"/>
            <a:chOff x="0" y="0"/>
            <a:chExt cx="4816593" cy="5093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509335"/>
            </a:xfrm>
            <a:custGeom>
              <a:avLst/>
              <a:gdLst/>
              <a:ahLst/>
              <a:cxnLst/>
              <a:rect r="r" b="b" t="t" l="l"/>
              <a:pathLst>
                <a:path h="5093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991447" y="215648"/>
            <a:ext cx="4565597" cy="813052"/>
          </a:xfrm>
          <a:custGeom>
            <a:avLst/>
            <a:gdLst/>
            <a:ahLst/>
            <a:cxnLst/>
            <a:rect r="r" b="b" t="t" l="l"/>
            <a:pathLst>
              <a:path h="813052" w="4565597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57044" y="89493"/>
            <a:ext cx="1232315" cy="939207"/>
          </a:xfrm>
          <a:custGeom>
            <a:avLst/>
            <a:gdLst/>
            <a:ahLst/>
            <a:cxnLst/>
            <a:rect r="r" b="b" t="t" l="l"/>
            <a:pathLst>
              <a:path h="939207" w="1232315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81698"/>
            <a:ext cx="16230600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KESIMPULAN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DAHWiWPAEtk</dc:identifier>
  <dcterms:modified xsi:type="dcterms:W3CDTF">2011-08-01T06:04:30Z</dcterms:modified>
  <cp:revision>1</cp:revision>
  <dc:title>Orange and Cream Illustration Marketing Plan Presentation</dc:title>
</cp:coreProperties>
</file>
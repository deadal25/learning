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914400"/>
            <a:ext cx="128016" cy="466344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1430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FFBF5C"/>
                </a:solidFill>
                <a:latin typeface="Aptos"/>
              </a:defRPr>
            </a:pPr>
            <a:r>
              <a:t>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5600" b="1">
                <a:solidFill>
                  <a:srgbClr val="FFFFFF"/>
                </a:solidFill>
                <a:latin typeface="Aptos"/>
              </a:defRPr>
            </a:pPr>
            <a:r>
              <a:t>MEETING</a:t>
            </a:r>
          </a:p>
          <a:p>
            <a:pPr>
              <a:spcAft>
                <a:spcPts val="1200"/>
              </a:spcAft>
              <a:defRPr sz="5600" b="1">
                <a:solidFill>
                  <a:srgbClr val="FFFFFF"/>
                </a:solidFill>
                <a:latin typeface="Aptos"/>
              </a:defRPr>
            </a:pPr>
            <a:r>
              <a:t>PEOPLE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892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Greetings • Spelling names • Introductions • Saying goodbye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806440"/>
            <a:ext cx="10058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FBF5C"/>
                </a:solidFill>
                <a:latin typeface="Aptos"/>
              </a:defRPr>
            </a:pPr>
            <a:r>
              <a:rPr dirty="0"/>
              <a:t> </a:t>
            </a:r>
            <a:r>
              <a:rPr lang="en-US" dirty="0"/>
              <a:t>BASIC</a:t>
            </a:r>
            <a:r>
              <a:rPr dirty="0"/>
              <a:t>  |  MS ADELA’S CLASS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918B"/>
                </a:solidFill>
                <a:latin typeface="Aptos"/>
              </a:defRPr>
            </a:pPr>
            <a:r>
              <a:t>DAY 1 • MEETING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4263D"/>
                </a:solidFill>
                <a:latin typeface="Aptos"/>
              </a:defRPr>
            </a:pPr>
            <a:r>
              <a:t>Today’s learning goals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064240" cy="22860"/>
          </a:xfrm>
          <a:prstGeom prst="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9144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373"/>
                </a:solidFill>
                <a:latin typeface="Aptos"/>
              </a:defRPr>
            </a:pPr>
            <a:r>
              <a:t>MS ADELA’S CLASS  •  BASIC / ELEMENTARY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091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10881360" cy="416052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14884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4263D"/>
                </a:solidFill>
                <a:latin typeface="Aptos"/>
              </a:defRPr>
            </a:pPr>
            <a:r>
              <a:t>•  Greet people in formal and casual situations.</a:t>
            </a:r>
          </a:p>
          <a:p>
            <a:pPr>
              <a:spcAft>
                <a:spcPts val="1200"/>
              </a:spcAft>
              <a:defRPr sz="2200" b="0">
                <a:solidFill>
                  <a:srgbClr val="14263D"/>
                </a:solidFill>
                <a:latin typeface="Aptos"/>
              </a:defRPr>
            </a:pPr>
            <a:r>
              <a:t>•  Spell your name and ask for someone’s name.</a:t>
            </a:r>
          </a:p>
          <a:p>
            <a:pPr>
              <a:spcAft>
                <a:spcPts val="1200"/>
              </a:spcAft>
              <a:defRPr sz="2200" b="0">
                <a:solidFill>
                  <a:srgbClr val="14263D"/>
                </a:solidFill>
                <a:latin typeface="Aptos"/>
              </a:defRPr>
            </a:pPr>
            <a:r>
              <a:t>•  Introduce yourself and another person.</a:t>
            </a:r>
          </a:p>
          <a:p>
            <a:pPr>
              <a:spcAft>
                <a:spcPts val="1200"/>
              </a:spcAft>
              <a:defRPr sz="2200" b="0">
                <a:solidFill>
                  <a:srgbClr val="14263D"/>
                </a:solidFill>
                <a:latin typeface="Aptos"/>
              </a:defRPr>
            </a:pPr>
            <a:r>
              <a:t>•  Use am / is / are and simple WH-questions.</a:t>
            </a:r>
          </a:p>
          <a:p>
            <a:pPr>
              <a:spcAft>
                <a:spcPts val="1200"/>
              </a:spcAft>
              <a:defRPr sz="2200" b="0">
                <a:solidFill>
                  <a:srgbClr val="14263D"/>
                </a:solidFill>
                <a:latin typeface="Aptos"/>
              </a:defRPr>
            </a:pPr>
            <a:r>
              <a:t>•  Start and end a short first-time conversation.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918B"/>
                </a:solidFill>
                <a:latin typeface="Aptos"/>
              </a:defRPr>
            </a:pPr>
            <a:r>
              <a:t>DAY 1 • MEETING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4263D"/>
                </a:solidFill>
                <a:latin typeface="Aptos"/>
              </a:defRPr>
            </a:pPr>
            <a:r>
              <a:t>Warm-up • Let’s talk!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064240" cy="22860"/>
          </a:xfrm>
          <a:prstGeom prst="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9144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373"/>
                </a:solidFill>
                <a:latin typeface="Aptos"/>
              </a:defRPr>
            </a:pPr>
            <a:r>
              <a:t>MS ADELA’S CLASS  •  BASIC / ELEMENTARY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091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5349240" cy="141732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956816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395728"/>
            <a:ext cx="49834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How do you greet a new friend?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828800"/>
            <a:ext cx="5349240" cy="141732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81928" y="1956816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2395728"/>
            <a:ext cx="49834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How do you introduce yourself?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410712"/>
            <a:ext cx="5349240" cy="141732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3538728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977639"/>
            <a:ext cx="49834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How do you say goodbye?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3410712"/>
            <a:ext cx="5349240" cy="141732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81928" y="3538728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3977639"/>
            <a:ext cx="49834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What do you want to learn in this class?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05332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06373"/>
                </a:solidFill>
                <a:latin typeface="Aptos"/>
              </a:defRPr>
            </a:pPr>
            <a:r>
              <a:t>Work with a partner. Share one answer with the class.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918B"/>
                </a:solidFill>
                <a:latin typeface="Aptos"/>
              </a:defRPr>
            </a:pPr>
            <a:r>
              <a:t>DAY 1 • MEETING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4263D"/>
                </a:solidFill>
                <a:latin typeface="Aptos"/>
              </a:defRPr>
            </a:pPr>
            <a:r>
              <a:t>Vocabulary • Meeting people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064240" cy="22860"/>
          </a:xfrm>
          <a:prstGeom prst="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9144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373"/>
                </a:solidFill>
                <a:latin typeface="Aptos"/>
              </a:defRPr>
            </a:pPr>
            <a:r>
              <a:t>MS ADELA’S CLASS  •  BASIC / ELEMENTARY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091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5349240" cy="132588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956816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Greeting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395728"/>
            <a:ext cx="4983479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Words we say when we meet someone.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828800"/>
            <a:ext cx="5349240" cy="132588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81928" y="1956816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First impression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2395728"/>
            <a:ext cx="4983479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What you think when you first meet someone.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319272"/>
            <a:ext cx="5349240" cy="132588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3447288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Small talk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886200"/>
            <a:ext cx="4983479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A short, friendly conversation.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3319272"/>
            <a:ext cx="5349240" cy="132588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81928" y="3447288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Handshake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3886200"/>
            <a:ext cx="4983479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A way of greeting with your hands.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809744"/>
            <a:ext cx="5349240" cy="132588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5528" y="4937759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Eye contact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5376672"/>
            <a:ext cx="4983479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Looking at someone while speaking.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4809744"/>
            <a:ext cx="5349240" cy="132588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81928" y="4937759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Nickname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8" y="5376672"/>
            <a:ext cx="4983479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A short or informal name.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918B"/>
                </a:solidFill>
                <a:latin typeface="Aptos"/>
              </a:defRPr>
            </a:pPr>
            <a:r>
              <a:t>DAY 1 • MEETING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4263D"/>
                </a:solidFill>
                <a:latin typeface="Aptos"/>
              </a:defRPr>
            </a:pPr>
            <a:r>
              <a:t>Vocabulary • Useful verbs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064240" cy="22860"/>
          </a:xfrm>
          <a:prstGeom prst="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9144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373"/>
                </a:solidFill>
                <a:latin typeface="Aptos"/>
              </a:defRPr>
            </a:pPr>
            <a:r>
              <a:t>MS ADELA’S CLASS  •  BASIC / ELEMENTARY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0918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5349240" cy="132588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956816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Meet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395728"/>
            <a:ext cx="4983479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Nice to meet you.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828800"/>
            <a:ext cx="5349240" cy="132588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81928" y="1956816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Introduce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2395728"/>
            <a:ext cx="4983479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Let me introduce myself.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319272"/>
            <a:ext cx="5349240" cy="132588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3447288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Spell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886200"/>
            <a:ext cx="4983479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How do you spell your name?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3319272"/>
            <a:ext cx="5349240" cy="132588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81928" y="3447288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3886200"/>
            <a:ext cx="4983479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You can call me Adel.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809744"/>
            <a:ext cx="5349240" cy="132588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5528" y="4937759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5376672"/>
            <a:ext cx="4983479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I work in an office.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4809744"/>
            <a:ext cx="5349240" cy="132588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81928" y="4937759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Study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8" y="5376672"/>
            <a:ext cx="4983479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I study English.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05332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06373"/>
                </a:solidFill>
                <a:latin typeface="Aptos"/>
              </a:defRPr>
            </a:pPr>
            <a:r>
              <a:t>Practice: make one sentence using two new words.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918B"/>
                </a:solidFill>
                <a:latin typeface="Aptos"/>
              </a:defRPr>
            </a:pPr>
            <a:r>
              <a:t>DAY 1 • MEETING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4263D"/>
                </a:solidFill>
                <a:latin typeface="Aptos"/>
              </a:defRPr>
            </a:pPr>
            <a:r>
              <a:t>Greetings • Formal and casual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064240" cy="22860"/>
          </a:xfrm>
          <a:prstGeom prst="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9144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373"/>
                </a:solidFill>
                <a:latin typeface="Aptos"/>
              </a:defRPr>
            </a:pPr>
            <a:r>
              <a:t>MS ADELA’S CLASS  •  BASIC / ELEMENTARY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0918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5349240" cy="141732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799653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rPr dirty="0"/>
              <a:t>FORMAL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71700"/>
            <a:ext cx="49834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rPr dirty="0"/>
              <a:t>Good morning.</a:t>
            </a:r>
          </a:p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rPr dirty="0"/>
              <a:t>Good afternoon.</a:t>
            </a:r>
          </a:p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rPr dirty="0"/>
              <a:t>Good evening.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828800"/>
            <a:ext cx="5349240" cy="141732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48402" y="1787652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rPr dirty="0"/>
              <a:t>CASUAL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2139696"/>
            <a:ext cx="49834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rPr dirty="0"/>
              <a:t>Hi! / Hello!</a:t>
            </a:r>
          </a:p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rPr dirty="0"/>
              <a:t>Hey!</a:t>
            </a:r>
          </a:p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rPr dirty="0"/>
              <a:t>How’s it going?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410712"/>
            <a:ext cx="5349240" cy="141732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3538728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977639"/>
            <a:ext cx="49834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How are you?</a:t>
            </a:r>
          </a:p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How are you doing?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3410712"/>
            <a:ext cx="5349240" cy="141732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81928" y="3538728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RESPOND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3977639"/>
            <a:ext cx="49834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I’m fine, thanks.</a:t>
            </a:r>
          </a:p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Pretty good! How about you?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918B"/>
                </a:solidFill>
                <a:latin typeface="Aptos"/>
              </a:defRPr>
            </a:pPr>
            <a:r>
              <a:t>DAY 1 • MEETING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4263D"/>
                </a:solidFill>
                <a:latin typeface="Aptos"/>
              </a:defRPr>
            </a:pPr>
            <a:r>
              <a:t>Farewells • Saying goodbye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064240" cy="22860"/>
          </a:xfrm>
          <a:prstGeom prst="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9144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373"/>
                </a:solidFill>
                <a:latin typeface="Aptos"/>
              </a:defRPr>
            </a:pPr>
            <a:r>
              <a:t>MS ADELA’S CLASS  •  BASIC / ELEMENTARY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0918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5349240" cy="141732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856803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rPr dirty="0"/>
              <a:t>FORMAL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53412"/>
            <a:ext cx="49834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rPr dirty="0"/>
              <a:t>Goodbye.</a:t>
            </a:r>
          </a:p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rPr dirty="0"/>
              <a:t>It was nice meeting you.</a:t>
            </a:r>
          </a:p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rPr dirty="0"/>
              <a:t>Have a nice day.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828800"/>
            <a:ext cx="5349240" cy="141732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856803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rPr dirty="0"/>
              <a:t>CASUAL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39" y="2139696"/>
            <a:ext cx="49834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rPr dirty="0"/>
              <a:t>Bye!</a:t>
            </a:r>
          </a:p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rPr dirty="0"/>
              <a:t>See you later!</a:t>
            </a:r>
          </a:p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rPr dirty="0"/>
              <a:t>Take care!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410712"/>
            <a:ext cx="5349240" cy="141732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3538728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AT NIGHT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977639"/>
            <a:ext cx="49834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Good night.</a:t>
            </a:r>
          </a:p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Sleep well!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3410712"/>
            <a:ext cx="5349240" cy="141732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81928" y="3538728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KEEP IN TOUCH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3977639"/>
            <a:ext cx="49834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See you soon!</a:t>
            </a:r>
          </a:p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Talk to you later!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918B"/>
                </a:solidFill>
                <a:latin typeface="Aptos"/>
              </a:defRPr>
            </a:pPr>
            <a:r>
              <a:t>DAY 1 • MEETING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4263D"/>
                </a:solidFill>
                <a:latin typeface="Aptos"/>
              </a:defRPr>
            </a:pPr>
            <a:r>
              <a:t>Names • First, middle, last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064240" cy="22860"/>
          </a:xfrm>
          <a:prstGeom prst="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9144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373"/>
                </a:solidFill>
                <a:latin typeface="Aptos"/>
              </a:defRPr>
            </a:pPr>
            <a:r>
              <a:t>MS ADELA’S CLASS  •  BASIC / ELEMENTARY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0918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5349240" cy="141732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956816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FIRST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395728"/>
            <a:ext cx="49834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Emma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828800"/>
            <a:ext cx="5349240" cy="141732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81928" y="1956816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MIDDLE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2395728"/>
            <a:ext cx="49834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Lori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410712"/>
            <a:ext cx="5349240" cy="141732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3538728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LAST 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977639"/>
            <a:ext cx="49834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Shaw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3410712"/>
            <a:ext cx="5349240" cy="141732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81928" y="3538728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FULL 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3977639"/>
            <a:ext cx="49834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Emma Lori Shaw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05332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06373"/>
                </a:solidFill>
                <a:latin typeface="Aptos"/>
              </a:defRPr>
            </a:pPr>
            <a:r>
              <a:t>Ask your partner: What’s your full name? Do you have a nickname?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918B"/>
                </a:solidFill>
                <a:latin typeface="Aptos"/>
              </a:defRPr>
            </a:pPr>
            <a:r>
              <a:t>DAY 1 • MEETING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4263D"/>
                </a:solidFill>
                <a:latin typeface="Aptos"/>
              </a:defRPr>
            </a:pPr>
            <a:r>
              <a:t>Spelling names • A–Z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064240" cy="22860"/>
          </a:xfrm>
          <a:prstGeom prst="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9144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373"/>
                </a:solidFill>
                <a:latin typeface="Aptos"/>
              </a:defRPr>
            </a:pPr>
            <a:r>
              <a:t>MS ADELA’S CLASS  •  BASIC / ELEMENTARY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0918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10881360" cy="416052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14884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4263D"/>
                </a:solidFill>
                <a:latin typeface="Aptos"/>
              </a:defRPr>
            </a:pPr>
            <a:r>
              <a:t>•  A: “What’s your name?”  B: “My name is Emma.”</a:t>
            </a:r>
          </a:p>
          <a:p>
            <a:pPr>
              <a:spcAft>
                <a:spcPts val="1200"/>
              </a:spcAft>
              <a:defRPr sz="2200" b="0">
                <a:solidFill>
                  <a:srgbClr val="14263D"/>
                </a:solidFill>
                <a:latin typeface="Aptos"/>
              </a:defRPr>
            </a:pPr>
            <a:r>
              <a:t>•  A: “How do you spell Emma?”  B: “E–M–M–A.”</a:t>
            </a:r>
          </a:p>
          <a:p>
            <a:pPr>
              <a:spcAft>
                <a:spcPts val="1200"/>
              </a:spcAft>
              <a:defRPr sz="2200" b="0">
                <a:solidFill>
                  <a:srgbClr val="14263D"/>
                </a:solidFill>
                <a:latin typeface="Aptos"/>
              </a:defRPr>
            </a:pPr>
            <a:r>
              <a:t>•  A: “Sorry, could you repeat that?”  B: “Sure! E–M–M–A.”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990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0918B"/>
                </a:solidFill>
                <a:latin typeface="Aptos"/>
              </a:defRPr>
            </a:pPr>
            <a:r>
              <a:t>Pair work: spell your first name, last name and nickname.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918B"/>
                </a:solidFill>
                <a:latin typeface="Aptos"/>
              </a:defRPr>
            </a:pPr>
            <a:r>
              <a:t>DAY 1 • MEETING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4263D"/>
                </a:solidFill>
                <a:latin typeface="Aptos"/>
              </a:defRPr>
            </a:pPr>
            <a:r>
              <a:t>Basic expressions • Introductions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064240" cy="22860"/>
          </a:xfrm>
          <a:prstGeom prst="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9144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373"/>
                </a:solidFill>
                <a:latin typeface="Aptos"/>
              </a:defRPr>
            </a:pPr>
            <a:r>
              <a:t>MS ADELA’S CLASS  •  BASIC / ELEMENTARY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0918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5349240" cy="141732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956816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INTRODUCE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395728"/>
            <a:ext cx="49834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Hello, my name is …</a:t>
            </a:r>
          </a:p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I’m … / You can call me 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828800"/>
            <a:ext cx="5349240" cy="141732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1" y="1872805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rPr dirty="0"/>
              <a:t>SHARE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2" y="2167128"/>
            <a:ext cx="49834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rPr dirty="0"/>
              <a:t>I’m from …</a:t>
            </a:r>
          </a:p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rPr dirty="0"/>
              <a:t>I live in …</a:t>
            </a:r>
          </a:p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rPr dirty="0"/>
              <a:t>I’m a student / teacher.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410712"/>
            <a:ext cx="5349240" cy="141732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3538728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INTRODUCE OTHERS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977639"/>
            <a:ext cx="49834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This is my friend, …</a:t>
            </a:r>
          </a:p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I’d like you to meet 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3410712"/>
            <a:ext cx="5349240" cy="141732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81928" y="3538728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RESPOND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3977639"/>
            <a:ext cx="49834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Nice to meet you.</a:t>
            </a:r>
          </a:p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Nice to meet you, too!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918B"/>
                </a:solidFill>
                <a:latin typeface="Aptos"/>
              </a:defRPr>
            </a:pPr>
            <a:r>
              <a:t>DAY 1 • MEETING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4263D"/>
                </a:solidFill>
                <a:latin typeface="Aptos"/>
              </a:defRPr>
            </a:pPr>
            <a:r>
              <a:t>Grammar • Verb TO BE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064240" cy="22860"/>
          </a:xfrm>
          <a:prstGeom prst="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9144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373"/>
                </a:solidFill>
                <a:latin typeface="Aptos"/>
              </a:defRPr>
            </a:pPr>
            <a:r>
              <a:t>MS ADELA’S CLASS  •  BASIC / ELEMENTARY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0918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5349240" cy="141732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956816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I + 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395728"/>
            <a:ext cx="49834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I am Adela.</a:t>
            </a:r>
          </a:p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I’m from Indonesia.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828800"/>
            <a:ext cx="5349240" cy="141732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81928" y="1956816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HE / SHE + 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2395728"/>
            <a:ext cx="49834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She is my classmate.</a:t>
            </a:r>
          </a:p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He’s a teacher.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410712"/>
            <a:ext cx="5349240" cy="141732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3538728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YOU / WE / THEY + 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977639"/>
            <a:ext cx="49834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You are my partner.</a:t>
            </a:r>
          </a:p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They’re students.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3410712"/>
            <a:ext cx="5349240" cy="141732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81928" y="3538728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NEGATIVE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3977639"/>
            <a:ext cx="49834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I’m not from Bali.</a:t>
            </a:r>
          </a:p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She isn’t a teacher.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05332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06373"/>
                </a:solidFill>
                <a:latin typeface="Aptos"/>
              </a:defRPr>
            </a:pPr>
            <a:r>
              <a:t>Remember: I am • You are • He/She is • We/They are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918B"/>
                </a:solidFill>
                <a:latin typeface="Aptos"/>
              </a:defRPr>
            </a:pPr>
            <a:r>
              <a:t>DAY 1 • MEETING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4263D"/>
                </a:solidFill>
                <a:latin typeface="Aptos"/>
              </a:defRPr>
            </a:pPr>
            <a:r>
              <a:t>Grammar • Questions and answers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064240" cy="22860"/>
          </a:xfrm>
          <a:prstGeom prst="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9144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373"/>
                </a:solidFill>
                <a:latin typeface="Aptos"/>
              </a:defRPr>
            </a:pPr>
            <a:r>
              <a:t>MS ADELA’S CLASS  •  BASIC / ELEMENTARY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0918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5349240" cy="141732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956816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WHAT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395728"/>
            <a:ext cx="49834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What is your name?</a:t>
            </a:r>
          </a:p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My name is Rina.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828800"/>
            <a:ext cx="5349240" cy="141732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81928" y="1956816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WHERE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2395728"/>
            <a:ext cx="49834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Where are you from?</a:t>
            </a:r>
          </a:p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I’m from Surabaya.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410712"/>
            <a:ext cx="5349240" cy="141732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3538728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HOW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977639"/>
            <a:ext cx="49834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How do you spell it?</a:t>
            </a:r>
          </a:p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R–I–N–A.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3410712"/>
            <a:ext cx="5349240" cy="141732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81928" y="3538728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ARE / 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3977639"/>
            <a:ext cx="49834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Are you a student? Yes, I am.</a:t>
            </a:r>
          </a:p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Is she your friend? Yes, she 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918B"/>
                </a:solidFill>
                <a:latin typeface="Aptos"/>
              </a:defRPr>
            </a:pPr>
            <a:r>
              <a:t>DAY 1 • MEETING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4263D"/>
                </a:solidFill>
                <a:latin typeface="Aptos"/>
              </a:defRPr>
            </a:pPr>
            <a:r>
              <a:t>Grammar practice • Fill in the blanks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064240" cy="22860"/>
          </a:xfrm>
          <a:prstGeom prst="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9144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373"/>
                </a:solidFill>
                <a:latin typeface="Aptos"/>
              </a:defRPr>
            </a:pPr>
            <a:r>
              <a:t>MS ADELA’S CLASS  •  BASIC / ELEMENTARY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0918B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10881360" cy="420624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148840"/>
            <a:ext cx="9875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4263D"/>
                </a:solidFill>
                <a:latin typeface="Aptos"/>
              </a:defRPr>
            </a:pPr>
            <a:r>
              <a:t>1. My name ___ Dita.</a:t>
            </a:r>
          </a:p>
          <a:p>
            <a:pPr>
              <a:spcAft>
                <a:spcPts val="1200"/>
              </a:spcAft>
              <a:defRPr sz="2300" b="0">
                <a:solidFill>
                  <a:srgbClr val="14263D"/>
                </a:solidFill>
                <a:latin typeface="Aptos"/>
              </a:defRPr>
            </a:pPr>
            <a:r>
              <a:t>2. I ___ from Jakarta.</a:t>
            </a:r>
          </a:p>
          <a:p>
            <a:pPr>
              <a:spcAft>
                <a:spcPts val="1200"/>
              </a:spcAft>
              <a:defRPr sz="2300" b="0">
                <a:solidFill>
                  <a:srgbClr val="14263D"/>
                </a:solidFill>
                <a:latin typeface="Aptos"/>
              </a:defRPr>
            </a:pPr>
            <a:r>
              <a:t>3. ___ you a new student?</a:t>
            </a:r>
          </a:p>
          <a:p>
            <a:pPr>
              <a:spcAft>
                <a:spcPts val="1200"/>
              </a:spcAft>
              <a:defRPr sz="2300" b="0">
                <a:solidFill>
                  <a:srgbClr val="14263D"/>
                </a:solidFill>
                <a:latin typeface="Aptos"/>
              </a:defRPr>
            </a:pPr>
            <a:r>
              <a:t>4. This ___ my friend, Budi.</a:t>
            </a:r>
          </a:p>
          <a:p>
            <a:pPr>
              <a:spcAft>
                <a:spcPts val="1200"/>
              </a:spcAft>
              <a:defRPr sz="2300" b="0">
                <a:solidFill>
                  <a:srgbClr val="14263D"/>
                </a:solidFill>
                <a:latin typeface="Aptos"/>
              </a:defRPr>
            </a:pPr>
            <a:r>
              <a:t>5. Where ___ you from?</a:t>
            </a:r>
          </a:p>
          <a:p>
            <a:pPr>
              <a:spcAft>
                <a:spcPts val="1200"/>
              </a:spcAft>
              <a:defRPr sz="2300" b="0">
                <a:solidFill>
                  <a:srgbClr val="14263D"/>
                </a:solidFill>
                <a:latin typeface="Aptos"/>
              </a:defRPr>
            </a:pPr>
            <a:r>
              <a:t>6. She ___ not my teacher.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080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0918B"/>
                </a:solidFill>
                <a:latin typeface="Aptos"/>
              </a:defRPr>
            </a:pPr>
            <a:r>
              <a:t>Check your answers with a partner.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918B"/>
                </a:solidFill>
                <a:latin typeface="Aptos"/>
              </a:defRPr>
            </a:pPr>
            <a:r>
              <a:t>DAY 1 • MEETING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4263D"/>
                </a:solidFill>
                <a:latin typeface="Aptos"/>
              </a:defRPr>
            </a:pPr>
            <a:r>
              <a:rPr dirty="0"/>
              <a:t> • Read and role-play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064240" cy="22860"/>
          </a:xfrm>
          <a:prstGeom prst="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9144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373"/>
                </a:solidFill>
                <a:latin typeface="Aptos"/>
              </a:defRPr>
            </a:pPr>
            <a:r>
              <a:t>MS ADELA’S CLASS  •  BASIC / ELEMENTARY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457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0918B"/>
                </a:solidFill>
                <a:latin typeface="Aptos"/>
              </a:defRPr>
            </a:pPr>
            <a:r>
              <a:rPr dirty="0"/>
              <a:t>1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10972800" cy="443484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984248"/>
            <a:ext cx="102412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4263D"/>
                </a:solidFill>
                <a:latin typeface="Aptos"/>
              </a:defRPr>
            </a:pPr>
            <a:r>
              <a:t>Steve: Hi! How’s it going?</a:t>
            </a:r>
          </a:p>
          <a:p>
            <a:pPr>
              <a:spcAft>
                <a:spcPts val="1200"/>
              </a:spcAft>
              <a:defRPr sz="1900" b="0">
                <a:solidFill>
                  <a:srgbClr val="14263D"/>
                </a:solidFill>
                <a:latin typeface="Aptos"/>
              </a:defRPr>
            </a:pPr>
            <a:r>
              <a:t>Emma: Fine, thanks. How are things?</a:t>
            </a:r>
          </a:p>
          <a:p>
            <a:pPr>
              <a:spcAft>
                <a:spcPts val="1200"/>
              </a:spcAft>
              <a:defRPr sz="1900" b="0">
                <a:solidFill>
                  <a:srgbClr val="14263D"/>
                </a:solidFill>
                <a:latin typeface="Aptos"/>
              </a:defRPr>
            </a:pPr>
            <a:r>
              <a:t>Steve: Pretty good. My name is Steve Hill. What’s your name?</a:t>
            </a:r>
          </a:p>
          <a:p>
            <a:pPr>
              <a:spcAft>
                <a:spcPts val="1200"/>
              </a:spcAft>
              <a:defRPr sz="1900" b="0">
                <a:solidFill>
                  <a:srgbClr val="14263D"/>
                </a:solidFill>
                <a:latin typeface="Aptos"/>
              </a:defRPr>
            </a:pPr>
            <a:r>
              <a:t>Emma: I’m Emma. Emma Lori Shaw.</a:t>
            </a:r>
          </a:p>
          <a:p>
            <a:pPr>
              <a:spcAft>
                <a:spcPts val="1200"/>
              </a:spcAft>
              <a:defRPr sz="1900" b="0">
                <a:solidFill>
                  <a:srgbClr val="14263D"/>
                </a:solidFill>
                <a:latin typeface="Aptos"/>
              </a:defRPr>
            </a:pPr>
            <a:r>
              <a:t>Steve: It’s nice to meet you.</a:t>
            </a:r>
          </a:p>
          <a:p>
            <a:pPr>
              <a:spcAft>
                <a:spcPts val="1200"/>
              </a:spcAft>
              <a:defRPr sz="1900" b="0">
                <a:solidFill>
                  <a:srgbClr val="14263D"/>
                </a:solidFill>
                <a:latin typeface="Aptos"/>
              </a:defRPr>
            </a:pPr>
            <a:r>
              <a:t>Emma: Nice to meet you, too.</a:t>
            </a:r>
          </a:p>
          <a:p>
            <a:pPr>
              <a:spcAft>
                <a:spcPts val="1200"/>
              </a:spcAft>
              <a:defRPr sz="1900" b="0">
                <a:solidFill>
                  <a:srgbClr val="14263D"/>
                </a:solidFill>
                <a:latin typeface="Aptos"/>
              </a:defRPr>
            </a:pPr>
            <a:r>
              <a:t>Steve: Well, it’s time for class. See you later!</a:t>
            </a:r>
          </a:p>
          <a:p>
            <a:pPr>
              <a:spcAft>
                <a:spcPts val="1200"/>
              </a:spcAft>
              <a:defRPr sz="1900" b="0">
                <a:solidFill>
                  <a:srgbClr val="14263D"/>
                </a:solidFill>
                <a:latin typeface="Aptos"/>
              </a:defRPr>
            </a:pPr>
            <a:r>
              <a:t>Emma: Take it easy!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6305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0918B"/>
                </a:solidFill>
                <a:latin typeface="Aptos"/>
              </a:defRPr>
            </a:pPr>
            <a:r>
              <a:t>Swap roles and practice your pronunciation.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918B"/>
                </a:solidFill>
                <a:latin typeface="Aptos"/>
              </a:defRPr>
            </a:pPr>
            <a:r>
              <a:t>DAY 1 • MEETING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4263D"/>
                </a:solidFill>
                <a:latin typeface="Aptos"/>
              </a:defRPr>
            </a:pPr>
            <a:r>
              <a:t>Practice 1 • Complete the conversation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064240" cy="22860"/>
          </a:xfrm>
          <a:prstGeom prst="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9144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373"/>
                </a:solidFill>
                <a:latin typeface="Aptos"/>
              </a:defRPr>
            </a:pPr>
            <a:r>
              <a:t>MS ADELA’S CLASS  •  BASIC / ELEMENTARY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457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0918B"/>
                </a:solidFill>
                <a:latin typeface="Aptos"/>
              </a:defRPr>
            </a:pPr>
            <a:r>
              <a:rPr dirty="0"/>
              <a:t>1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972800" cy="443484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1"/>
            <a:ext cx="102412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4263D"/>
                </a:solidFill>
                <a:latin typeface="Aptos"/>
              </a:defRPr>
            </a:pPr>
            <a:r>
              <a:t>A: Good morning! My name is ______.</a:t>
            </a:r>
          </a:p>
          <a:p>
            <a:pPr>
              <a:spcAft>
                <a:spcPts val="1200"/>
              </a:spcAft>
              <a:defRPr sz="2100" b="0">
                <a:solidFill>
                  <a:srgbClr val="14263D"/>
                </a:solidFill>
                <a:latin typeface="Aptos"/>
              </a:defRPr>
            </a:pPr>
            <a:r>
              <a:t>B: Hello! I’m ______. Nice to ______ you.</a:t>
            </a:r>
          </a:p>
          <a:p>
            <a:pPr>
              <a:spcAft>
                <a:spcPts val="1200"/>
              </a:spcAft>
              <a:defRPr sz="2100" b="0">
                <a:solidFill>
                  <a:srgbClr val="14263D"/>
                </a:solidFill>
                <a:latin typeface="Aptos"/>
              </a:defRPr>
            </a:pPr>
            <a:r>
              <a:t>A: Nice to meet you, ______. Where are you ______?</a:t>
            </a:r>
          </a:p>
          <a:p>
            <a:pPr>
              <a:spcAft>
                <a:spcPts val="1200"/>
              </a:spcAft>
              <a:defRPr sz="2100" b="0">
                <a:solidFill>
                  <a:srgbClr val="14263D"/>
                </a:solidFill>
                <a:latin typeface="Aptos"/>
              </a:defRPr>
            </a:pPr>
            <a:r>
              <a:t>B: I’m from ______. How about you?</a:t>
            </a:r>
          </a:p>
          <a:p>
            <a:pPr>
              <a:spcAft>
                <a:spcPts val="1200"/>
              </a:spcAft>
              <a:defRPr sz="2100" b="0">
                <a:solidFill>
                  <a:srgbClr val="14263D"/>
                </a:solidFill>
                <a:latin typeface="Aptos"/>
              </a:defRPr>
            </a:pPr>
            <a:r>
              <a:t>A: I’m from ______.</a:t>
            </a:r>
          </a:p>
          <a:p>
            <a:pPr>
              <a:spcAft>
                <a:spcPts val="1200"/>
              </a:spcAft>
              <a:defRPr sz="2100" b="0">
                <a:solidFill>
                  <a:srgbClr val="14263D"/>
                </a:solidFill>
                <a:latin typeface="Aptos"/>
              </a:defRPr>
            </a:pPr>
            <a:r>
              <a:t>B: It was nice ______ you. See you ______!</a:t>
            </a:r>
          </a:p>
          <a:p>
            <a:pPr>
              <a:spcAft>
                <a:spcPts val="1200"/>
              </a:spcAft>
              <a:defRPr sz="2100" b="0">
                <a:solidFill>
                  <a:srgbClr val="14263D"/>
                </a:solidFill>
                <a:latin typeface="Aptos"/>
              </a:defRPr>
            </a:pPr>
            <a:r>
              <a:t>A: Take ______!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918B"/>
                </a:solidFill>
                <a:latin typeface="Aptos"/>
              </a:defRPr>
            </a:pPr>
            <a:r>
              <a:t>DAY 1 • MEETING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4263D"/>
                </a:solidFill>
                <a:latin typeface="Aptos"/>
              </a:defRPr>
            </a:pPr>
            <a:r>
              <a:t>Practice 2 • Role-play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064240" cy="22860"/>
          </a:xfrm>
          <a:prstGeom prst="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9144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373"/>
                </a:solidFill>
                <a:latin typeface="Aptos"/>
              </a:defRPr>
            </a:pPr>
            <a:r>
              <a:t>MS ADELA’S CLASS  •  BASIC / ELEMENTARY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457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0918B"/>
                </a:solidFill>
                <a:latin typeface="Aptos"/>
              </a:defRPr>
            </a:pPr>
            <a:r>
              <a:rPr dirty="0"/>
              <a:t>1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5349240" cy="141732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956816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SCENARIO 1: NEW CLASSMATE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395728"/>
            <a:ext cx="49834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Greet your partner. Ask their name, hometown and nickname. Say goodbye.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828800"/>
            <a:ext cx="5349240" cy="141732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81928" y="1956816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8B"/>
                </a:solidFill>
                <a:latin typeface="Aptos"/>
              </a:defRPr>
            </a:pPr>
            <a:r>
              <a:t>SCENARIO 2: NEW COLLEAGUE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2395728"/>
            <a:ext cx="4983479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Greet politely. Introduce yourself and a friend. Ask about work. End the conversation.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05332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06373"/>
                </a:solidFill>
                <a:latin typeface="Aptos"/>
              </a:defRPr>
            </a:pPr>
            <a:r>
              <a:t>Speak for 1–2 minutes. Change partners and try again.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918B"/>
                </a:solidFill>
                <a:latin typeface="Aptos"/>
              </a:defRPr>
            </a:pPr>
            <a:r>
              <a:t>DAY 1 • MEETING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4263D"/>
                </a:solidFill>
                <a:latin typeface="Aptos"/>
              </a:defRPr>
            </a:pPr>
            <a:r>
              <a:t>Speaking challenge • Find someone who…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064240" cy="22860"/>
          </a:xfrm>
          <a:prstGeom prst="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9144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373"/>
                </a:solidFill>
                <a:latin typeface="Aptos"/>
              </a:defRPr>
            </a:pPr>
            <a:r>
              <a:t>MS ADELA’S CLASS  •  BASIC / ELEMENTARY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457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0918B"/>
                </a:solidFill>
                <a:latin typeface="Aptos"/>
              </a:defRPr>
            </a:pPr>
            <a:r>
              <a:rPr dirty="0"/>
              <a:t>1</a:t>
            </a:r>
            <a:r>
              <a:rPr lang="en-US" dirty="0"/>
              <a:t>7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972800" cy="443484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10241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4263D"/>
                </a:solidFill>
                <a:latin typeface="Aptos"/>
              </a:defRPr>
            </a:pPr>
            <a:r>
              <a:t>Find someone who…</a:t>
            </a:r>
          </a:p>
          <a:p>
            <a:pPr>
              <a:spcAft>
                <a:spcPts val="1200"/>
              </a:spcAft>
              <a:defRPr sz="2300" b="0">
                <a:solidFill>
                  <a:srgbClr val="14263D"/>
                </a:solidFill>
                <a:latin typeface="Aptos"/>
              </a:defRPr>
            </a:pPr>
            <a:r>
              <a:t>□ has a nickname.</a:t>
            </a:r>
          </a:p>
          <a:p>
            <a:pPr>
              <a:spcAft>
                <a:spcPts val="1200"/>
              </a:spcAft>
              <a:defRPr sz="2300" b="0">
                <a:solidFill>
                  <a:srgbClr val="14263D"/>
                </a:solidFill>
                <a:latin typeface="Aptos"/>
              </a:defRPr>
            </a:pPr>
            <a:r>
              <a:t>□ is from a different city.</a:t>
            </a:r>
          </a:p>
          <a:p>
            <a:pPr>
              <a:spcAft>
                <a:spcPts val="1200"/>
              </a:spcAft>
              <a:defRPr sz="2300" b="0">
                <a:solidFill>
                  <a:srgbClr val="14263D"/>
                </a:solidFill>
                <a:latin typeface="Aptos"/>
              </a:defRPr>
            </a:pPr>
            <a:r>
              <a:t>□ likes meeting new people.</a:t>
            </a:r>
          </a:p>
          <a:p>
            <a:pPr>
              <a:spcAft>
                <a:spcPts val="1200"/>
              </a:spcAft>
              <a:defRPr sz="2300" b="0">
                <a:solidFill>
                  <a:srgbClr val="14263D"/>
                </a:solidFill>
                <a:latin typeface="Aptos"/>
              </a:defRPr>
            </a:pPr>
            <a:r>
              <a:t>□ can spell their full name in English.</a:t>
            </a:r>
          </a:p>
          <a:p>
            <a:pPr>
              <a:spcAft>
                <a:spcPts val="1200"/>
              </a:spcAft>
              <a:defRPr sz="2300" b="0">
                <a:solidFill>
                  <a:srgbClr val="14263D"/>
                </a:solidFill>
                <a:latin typeface="Aptos"/>
              </a:defRPr>
            </a:pPr>
            <a:r>
              <a:t>□ has the same hobby as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1722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0918B"/>
                </a:solidFill>
                <a:latin typeface="Aptos"/>
              </a:defRPr>
            </a:pPr>
            <a:r>
              <a:t>Ask: “What’s your name?” “Where are you from?” “Do you like…?”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918B"/>
                </a:solidFill>
                <a:latin typeface="Aptos"/>
              </a:defRPr>
            </a:pPr>
            <a:r>
              <a:t>DAY 1 • MEETING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4263D"/>
                </a:solidFill>
                <a:latin typeface="Aptos"/>
              </a:defRPr>
            </a:pPr>
            <a:r>
              <a:t>Q&amp;A • Let’s discuss!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064240" cy="22860"/>
          </a:xfrm>
          <a:prstGeom prst="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9144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373"/>
                </a:solidFill>
                <a:latin typeface="Aptos"/>
              </a:defRPr>
            </a:pPr>
            <a:r>
              <a:t>MS ADELA’S CLASS  •  BASIC / ELEMENTARY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457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0918B"/>
                </a:solidFill>
                <a:latin typeface="Aptos"/>
              </a:defRPr>
            </a:pPr>
            <a:r>
              <a:rPr dirty="0"/>
              <a:t>1</a:t>
            </a:r>
            <a:r>
              <a:rPr lang="en-US" dirty="0"/>
              <a:t>8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972800" cy="448056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029968"/>
            <a:ext cx="10287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4263D"/>
                </a:solidFill>
                <a:latin typeface="Aptos"/>
              </a:defRPr>
            </a:pPr>
            <a:r>
              <a:t>1. Do you enjoy meeting new people? Why?</a:t>
            </a:r>
          </a:p>
          <a:p>
            <a:pPr>
              <a:spcAft>
                <a:spcPts val="1200"/>
              </a:spcAft>
              <a:defRPr sz="2100" b="0">
                <a:solidFill>
                  <a:srgbClr val="14263D"/>
                </a:solidFill>
                <a:latin typeface="Aptos"/>
              </a:defRPr>
            </a:pPr>
            <a:r>
              <a:t>2. How do you usually introduce yourself?</a:t>
            </a:r>
          </a:p>
          <a:p>
            <a:pPr>
              <a:spcAft>
                <a:spcPts val="1200"/>
              </a:spcAft>
              <a:defRPr sz="2100" b="0">
                <a:solidFill>
                  <a:srgbClr val="14263D"/>
                </a:solidFill>
                <a:latin typeface="Aptos"/>
              </a:defRPr>
            </a:pPr>
            <a:r>
              <a:t>3. What makes a good first impression?</a:t>
            </a:r>
          </a:p>
          <a:p>
            <a:pPr>
              <a:spcAft>
                <a:spcPts val="1200"/>
              </a:spcAft>
              <a:defRPr sz="2100" b="0">
                <a:solidFill>
                  <a:srgbClr val="14263D"/>
                </a:solidFill>
                <a:latin typeface="Aptos"/>
              </a:defRPr>
            </a:pPr>
            <a:r>
              <a:t>4. What can you ask someone you have just met?</a:t>
            </a:r>
          </a:p>
          <a:p>
            <a:pPr>
              <a:spcAft>
                <a:spcPts val="1200"/>
              </a:spcAft>
              <a:defRPr sz="2100" b="0">
                <a:solidFill>
                  <a:srgbClr val="14263D"/>
                </a:solidFill>
                <a:latin typeface="Aptos"/>
              </a:defRPr>
            </a:pPr>
            <a:r>
              <a:t>5. What is different about formal and casual greetings?</a:t>
            </a:r>
          </a:p>
          <a:p>
            <a:pPr>
              <a:spcAft>
                <a:spcPts val="1200"/>
              </a:spcAft>
              <a:defRPr sz="2100" b="0">
                <a:solidFill>
                  <a:srgbClr val="14263D"/>
                </a:solidFill>
                <a:latin typeface="Aptos"/>
              </a:defRPr>
            </a:pPr>
            <a:r>
              <a:t>6. How do you politely end a conversation?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918B"/>
                </a:solidFill>
                <a:latin typeface="Aptos"/>
              </a:defRPr>
            </a:pPr>
            <a:r>
              <a:t>DAY 1 • MEETING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4263D"/>
                </a:solidFill>
                <a:latin typeface="Aptos"/>
              </a:defRPr>
            </a:pPr>
            <a:r>
              <a:t>Q&amp;A • Ask Ms Adela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064240" cy="22860"/>
          </a:xfrm>
          <a:prstGeom prst="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9144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06373"/>
                </a:solidFill>
                <a:latin typeface="Aptos"/>
              </a:defRPr>
            </a:pPr>
            <a:r>
              <a:t>MS ADELA’S CLASS  •  BASIC / ELEMENTARY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457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0918B"/>
                </a:solidFill>
                <a:latin typeface="Aptos"/>
              </a:defRPr>
            </a:pPr>
            <a:r>
              <a:rPr lang="en-US" dirty="0"/>
              <a:t>19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097280" y="196596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400" b="1">
                <a:solidFill>
                  <a:srgbClr val="00918B"/>
                </a:solidFill>
                <a:latin typeface="Aptos"/>
              </a:defRPr>
            </a:pPr>
            <a:r>
              <a:t>Any 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54680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 b="0">
                <a:solidFill>
                  <a:srgbClr val="14263D"/>
                </a:solidFill>
                <a:latin typeface="Aptos"/>
              </a:defRPr>
            </a:pPr>
            <a:r>
              <a:t>What expression, vocabulary, or grammar would you like to review?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754880"/>
            <a:ext cx="9875520" cy="685800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4901184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918B"/>
                </a:solidFill>
                <a:latin typeface="Aptos"/>
              </a:defRPr>
            </a:pPr>
            <a:r>
              <a:t>EXIT TICKET: Introduce yourself in 3 sentences and say goodbye.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1322</Words>
  <Application>Microsoft Office PowerPoint</Application>
  <PresentationFormat>Widescreen</PresentationFormat>
  <Paragraphs>239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Adela Ananda Putri</cp:lastModifiedBy>
  <cp:revision>4</cp:revision>
  <dcterms:created xsi:type="dcterms:W3CDTF">2013-01-27T09:14:16Z</dcterms:created>
  <dcterms:modified xsi:type="dcterms:W3CDTF">2026-09-29T09:28:28Z</dcterms:modified>
  <cp:category/>
</cp:coreProperties>
</file>